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w5xLn5x3uYyVdkHxKuzU34A3Z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389F63-6314-430D-8DE6-E588B45398A3}">
  <a:tblStyle styleId="{B9389F63-6314-430D-8DE6-E588B45398A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Bestellungen &amp; Menge je Rabattstufe (%)</a:t>
            </a:r>
          </a:p>
        </c:rich>
      </c:tx>
      <c:layout/>
      <c:overlay val="0"/>
    </c:title>
    <c:autoTitleDeleted val="0"/>
    <c:plotArea>
      <c:layout/>
      <c:barChart>
        <c:barDir val="col"/>
        <c:grouping val="clustered"/>
        <c:varyColors val="0"/>
        <c:ser>
          <c:idx val="0"/>
          <c:order val="0"/>
          <c:tx>
            <c:strRef>
              <c:f>Sheet1!$B$1</c:f>
              <c:strCache>
                <c:ptCount val="1"/>
                <c:pt idx="0">
                  <c:v>Bestellungen (eindeutig)</c:v>
                </c:pt>
              </c:strCache>
            </c:strRef>
          </c:tx>
          <c:spPr>
            <a:solidFill>
              <a:srgbClr val="1E276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Sheet1!$A$2:$A$11</c:f>
              <c:strCache>
                <c:ptCount val="10"/>
                <c:pt idx="0">
                  <c:v>0-10</c:v>
                </c:pt>
                <c:pt idx="1">
                  <c:v>10-20</c:v>
                </c:pt>
                <c:pt idx="2">
                  <c:v>20-30</c:v>
                </c:pt>
                <c:pt idx="3">
                  <c:v>30-40</c:v>
                </c:pt>
                <c:pt idx="4">
                  <c:v>40-50</c:v>
                </c:pt>
                <c:pt idx="5">
                  <c:v>50-60</c:v>
                </c:pt>
                <c:pt idx="6">
                  <c:v>60-70</c:v>
                </c:pt>
                <c:pt idx="7">
                  <c:v>70-80</c:v>
                </c:pt>
                <c:pt idx="8">
                  <c:v>80-90</c:v>
                </c:pt>
                <c:pt idx="9">
                  <c:v>90-100</c:v>
                </c:pt>
              </c:strCache>
            </c:strRef>
          </c:cat>
          <c:val>
            <c:numRef>
              <c:f>Sheet1!$B$2:$B$11</c:f>
              <c:numCache>
                <c:formatCode>General</c:formatCode>
                <c:ptCount val="10"/>
                <c:pt idx="0">
                  <c:v>12024</c:v>
                </c:pt>
                <c:pt idx="1">
                  <c:v>15090</c:v>
                </c:pt>
                <c:pt idx="2">
                  <c:v>11421</c:v>
                </c:pt>
                <c:pt idx="3">
                  <c:v>4514</c:v>
                </c:pt>
                <c:pt idx="4">
                  <c:v>2768</c:v>
                </c:pt>
                <c:pt idx="5">
                  <c:v>1965</c:v>
                </c:pt>
                <c:pt idx="6">
                  <c:v>1665</c:v>
                </c:pt>
                <c:pt idx="7">
                  <c:v>910</c:v>
                </c:pt>
                <c:pt idx="8">
                  <c:v>406</c:v>
                </c:pt>
                <c:pt idx="9">
                  <c:v>1038</c:v>
                </c:pt>
              </c:numCache>
            </c:numRef>
          </c:val>
        </c:ser>
        <c:ser>
          <c:idx val="1"/>
          <c:order val="1"/>
          <c:tx>
            <c:strRef>
              <c:f>Sheet1!$C$1</c:f>
              <c:strCache>
                <c:ptCount val="1"/>
                <c:pt idx="0">
                  <c:v>Verkaufte Menge</c:v>
                </c:pt>
              </c:strCache>
            </c:strRef>
          </c:tx>
          <c:spPr>
            <a:solidFill>
              <a:srgbClr val="CADCF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Sheet1!$A$2:$A$11</c:f>
              <c:strCache>
                <c:ptCount val="10"/>
                <c:pt idx="0">
                  <c:v>0-10</c:v>
                </c:pt>
                <c:pt idx="1">
                  <c:v>10-20</c:v>
                </c:pt>
                <c:pt idx="2">
                  <c:v>20-30</c:v>
                </c:pt>
                <c:pt idx="3">
                  <c:v>30-40</c:v>
                </c:pt>
                <c:pt idx="4">
                  <c:v>40-50</c:v>
                </c:pt>
                <c:pt idx="5">
                  <c:v>50-60</c:v>
                </c:pt>
                <c:pt idx="6">
                  <c:v>60-70</c:v>
                </c:pt>
                <c:pt idx="7">
                  <c:v>70-80</c:v>
                </c:pt>
                <c:pt idx="8">
                  <c:v>80-90</c:v>
                </c:pt>
                <c:pt idx="9">
                  <c:v>90-100</c:v>
                </c:pt>
              </c:strCache>
            </c:strRef>
          </c:cat>
          <c:val>
            <c:numRef>
              <c:f>Sheet1!$C$2:$C$11</c:f>
              <c:numCache>
                <c:formatCode>General</c:formatCode>
                <c:ptCount val="10"/>
                <c:pt idx="0">
                  <c:v>14577</c:v>
                </c:pt>
                <c:pt idx="1">
                  <c:v>18598</c:v>
                </c:pt>
                <c:pt idx="2">
                  <c:v>13923</c:v>
                </c:pt>
                <c:pt idx="3">
                  <c:v>5251</c:v>
                </c:pt>
                <c:pt idx="4">
                  <c:v>3211</c:v>
                </c:pt>
                <c:pt idx="5">
                  <c:v>2305</c:v>
                </c:pt>
                <c:pt idx="6">
                  <c:v>2137</c:v>
                </c:pt>
                <c:pt idx="7">
                  <c:v>1062</c:v>
                </c:pt>
                <c:pt idx="8">
                  <c:v>468</c:v>
                </c:pt>
                <c:pt idx="9">
                  <c:v>1178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A6472"/>
                    </a:solidFill>
                    <a:latin typeface="Arial"/>
                  </a:defRPr>
                </a:pPr>
                <a:r>
                  <a:rPr sz="1000" b="0" i="0" u="none" strike="noStrike">
                    <a:solidFill>
                      <a:srgbClr val="5A6472"/>
                    </a:solidFill>
                    <a:latin typeface="Arial"/>
                  </a:rPr>
                  <a:t>Rabattstufe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8F0"/>
              </a:solidFill>
              <a:prstDash val="solid"/>
              <a:round/>
            </a:ln>
          </c:spPr>
        </c:majorGridlines>
        <c:title>
          <c:tx>
            <c:rich>
              <a:bodyPr/>
              <a:lstStyle/>
              <a:p>
                <a:pPr>
                  <a:defRPr sz="1000" b="0" i="0" u="none" strike="noStrike">
                    <a:solidFill>
                      <a:srgbClr val="5A6472"/>
                    </a:solidFill>
                    <a:latin typeface="Arial"/>
                  </a:defRPr>
                </a:pPr>
                <a:r>
                  <a:rPr sz="1000" b="0" i="0" u="none" strike="noStrike">
                    <a:solidFill>
                      <a:srgbClr val="5A6472"/>
                    </a:solidFill>
                    <a:latin typeface="Arial"/>
                  </a:rPr>
                  <a:t>Anzahl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SzPts val="1100"/>
              <a:buNone/>
            </a:pPr>
            <a:r>
              <a:rPr b="1" lang="en-US" u="sng"/>
              <a:t>VORABFAZIT:</a:t>
            </a:r>
            <a:endParaRPr b="1" u="sng"/>
          </a:p>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Clr>
                <a:schemeClr val="lt1"/>
              </a:buClr>
              <a:buSzPts val="1100"/>
              <a:buFont typeface="Calibri"/>
              <a:buNone/>
            </a:pPr>
            <a:r>
              <a:rPr lang="en-US"/>
              <a:t>D</a:t>
            </a:r>
            <a:r>
              <a:rPr lang="en-US" sz="1300"/>
              <a:t>ie Daten zeichnen ein gemischtes Bild: </a:t>
            </a:r>
            <a:endParaRPr sz="1300"/>
          </a:p>
          <a:p>
            <a:pPr indent="-311150" lvl="0" marL="457200" rtl="0" algn="l">
              <a:lnSpc>
                <a:spcPct val="115000"/>
              </a:lnSpc>
              <a:spcBef>
                <a:spcPts val="0"/>
              </a:spcBef>
              <a:spcAft>
                <a:spcPts val="0"/>
              </a:spcAft>
              <a:buClr>
                <a:schemeClr val="dk1"/>
              </a:buClr>
              <a:buSzPts val="1300"/>
              <a:buFont typeface="Calibri"/>
              <a:buChar char="●"/>
            </a:pPr>
            <a:r>
              <a:rPr b="1" lang="en-US" sz="1300"/>
              <a:t>Rabatte treiben nachweislich kein Mengenwachstum</a:t>
            </a:r>
            <a:r>
              <a:rPr lang="en-US" sz="1300"/>
              <a:t>  (Folie 3: schwächt Wachstumsthese des Marketings)</a:t>
            </a:r>
            <a:endParaRPr sz="1300"/>
          </a:p>
          <a:p>
            <a:pPr indent="-311150" lvl="0" marL="457200" rtl="0" algn="l">
              <a:lnSpc>
                <a:spcPct val="115000"/>
              </a:lnSpc>
              <a:spcBef>
                <a:spcPts val="0"/>
              </a:spcBef>
              <a:spcAft>
                <a:spcPts val="0"/>
              </a:spcAft>
              <a:buClr>
                <a:schemeClr val="dk1"/>
              </a:buClr>
              <a:buSzPts val="1300"/>
              <a:buFont typeface="Calibri"/>
              <a:buChar char="●"/>
            </a:pPr>
            <a:r>
              <a:rPr b="1" lang="en-US" sz="1300"/>
              <a:t>Zugleich widerlegt </a:t>
            </a:r>
            <a:r>
              <a:rPr lang="en-US" sz="1300"/>
              <a:t>der Kategorievergleich die Sorge einer </a:t>
            </a:r>
            <a:r>
              <a:rPr b="1" lang="en-US" sz="1300"/>
              <a:t>Apple-„Verramschung“ bei Kern-Hardware </a:t>
            </a:r>
            <a:r>
              <a:rPr lang="en-US" sz="1300"/>
              <a:t>— (Folie 5: schwächt Vorstand Sorge)</a:t>
            </a:r>
            <a:endParaRPr sz="1300"/>
          </a:p>
          <a:p>
            <a:pPr indent="0" lvl="0" marL="457200" rtl="0" algn="l">
              <a:lnSpc>
                <a:spcPct val="115000"/>
              </a:lnSpc>
              <a:spcBef>
                <a:spcPts val="0"/>
              </a:spcBef>
              <a:spcAft>
                <a:spcPts val="0"/>
              </a:spcAft>
              <a:buClr>
                <a:schemeClr val="dk1"/>
              </a:buClr>
              <a:buSzPts val="1300"/>
              <a:buFont typeface="Arial"/>
              <a:buNone/>
            </a:pPr>
            <a:r>
              <a:t/>
            </a:r>
            <a:endParaRPr sz="1300"/>
          </a:p>
          <a:p>
            <a:pPr indent="0" lvl="0" marL="457200" rtl="0" algn="l">
              <a:lnSpc>
                <a:spcPct val="115000"/>
              </a:lnSpc>
              <a:spcBef>
                <a:spcPts val="0"/>
              </a:spcBef>
              <a:spcAft>
                <a:spcPts val="0"/>
              </a:spcAft>
              <a:buClr>
                <a:schemeClr val="dk1"/>
              </a:buClr>
              <a:buSzPts val="1300"/>
              <a:buFont typeface="Arial"/>
              <a:buNone/>
            </a:pPr>
            <a:r>
              <a:rPr lang="en-US" sz="1300"/>
              <a:t>Eine abschließende Pro-/Contra-Entscheidung ist damit noch nicht möglich: </a:t>
            </a:r>
            <a:endParaRPr sz="1300"/>
          </a:p>
          <a:p>
            <a:pPr indent="-311150" lvl="0" marL="457200" rtl="0" algn="l">
              <a:lnSpc>
                <a:spcPct val="115000"/>
              </a:lnSpc>
              <a:spcBef>
                <a:spcPts val="0"/>
              </a:spcBef>
              <a:spcAft>
                <a:spcPts val="0"/>
              </a:spcAft>
              <a:buClr>
                <a:schemeClr val="dk1"/>
              </a:buClr>
              <a:buSzPts val="1300"/>
              <a:buFont typeface="Calibri"/>
              <a:buChar char="●"/>
            </a:pPr>
            <a:r>
              <a:rPr lang="en-US" sz="1300"/>
              <a:t>Für die zentrale Wirtschaftlichkeitsfrage fehlen Kosten- und Kunden-Daten (siehe Limitationen, Folie 6).</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Die Bereinigung ist im Notebook (Abschnitt 1–2) vollständig dokumentiert. In der Tabelle products waren über 45 % der Zeilen Duplikate, davon 377 mit fehlerhaften, korrigierten Mehrfachpunkt-Preisen. Fehlende Werte betrafen nur einen kleinen Teil der Daten und wurden je nach Relevanz gelöscht oder aufgefüllt. Von den ursprünglich 226.904 Bestellungen blieben nach allen Schritten 45.418 als finale Analysebasis übrig — 80 % der Rohdaten waren unvollständige, fehlerhafte oder nicht abgeschlossene Bestellungen.</a:t>
            </a: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Sowohl Bestellanzahl als auch verkaufte Menge fallen mit steigender Rabattstufe deutlich — höhere Rabatte ziehen keine höheren Stückzahlen nach sich. Die These „mehr Rabatt = mehr Absatz“ ist mit diesen Daten nicht belegbar (Abschnitt 8.2/8.3, Basis: bereinigter Datensatz, Folie 2).</a:t>
            </a:r>
          </a:p>
          <a:p/>
          <a:p>
            <a:r>
              <a:t>Hinweis zur Zahlengenauigkeit: Die Bestellanzahl je Rabattstufe summiert sich auf 51.801, obwohl es nur 45.418 Bestellungen gibt — rund 14 % der Bestellungen enthalten Produkte aus mehreren Rabattstufen und werden deshalb mehrfach gezählt. Das ändert nichts am Kernergebnis: Die Korrelation bleibt bei 0,01.</a:t>
            </a: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Beide Kurven verlaufen nahezu identisch (Spitze Nov. 2017: Umsatz ~2,9 Mio €, ~7.000 Bestellungen). März 2018 ist nur bis 14.03. erfasst — der Einbruch am rechten Rand ist ein Artefakt, kein Trend (Abschnitt 5.2.2, Notebook).</a:t>
            </a:r>
          </a:p>
          <a:p/>
          <a:p>
            <a:r>
              <a:t>Pro Rabatt: Umsatz fällt nicht, während Bestellungen steigen — die spezifische Vorstandsaussage bestätigt sich hier nicht. Wenn Bestellungen steigen, steigt der Umsatz mit.</a:t>
            </a:r>
          </a:p>
          <a:p>
            <a:r>
              <a:t>Einschränkung: Ein reiner Kurvenvergleich ist ungenau, da er nichts über den Ø Bestellwert (Umsatz ÷ Bestellungen) aussagt — Empfehlung: vor einer Strategieanpassung den Ø Bestellwert über ein vollständiges Jahr prüfen.</a:t>
            </a: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Ergebnis: Kern-Hardware-Boxen (Navy, z. B. MacBooks, iPhones) zeigen, wie hoch der Preisdruck auf die Kernprodukte von Apple wirklich ist — Höhe der Box und Lage des roten Medianstrichs sind entscheidend.</a:t>
            </a:r>
          </a:p>
          <a:p/>
          <a:p>
            <a:r>
              <a:t>Pro Rabatt: Hardware-Boxen sind flach, Median meist 5–15 % (MacBook, iMac, Mobile Phones) — im Vergleich zu den übrigen Eniac-Kategorien niedrig. Ein Wettbewerbsvergleich liegt nicht vor.</a:t>
            </a:r>
          </a:p>
          <a:p>
            <a:r>
              <a:t>Contra Rabatt: Dienstleistungen werden am breitesten und mit dem höchsten Median rabattiert. Ob dadurch tatsächlich Geld verschenkt wird, bleibt ohne Kostendaten offen.</a:t>
            </a:r>
          </a:p>
          <a:p/>
          <a:p>
            <a:r>
              <a:t>Empfehlung: Bei Kern-Hardware aktuell kein Handlungsbedarf; Rabattpraxis bei Dienstleistungen zuerst prüfen, sobald Kostendaten vorliegen.</a:t>
            </a:r>
          </a:p>
        </p:txBody>
      </p:sp>
      <p:sp>
        <p:nvSpPr>
          <p:cNvPr id="83" name="Google Shape;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25000"/>
              </a:lnSpc>
              <a:spcBef>
                <a:spcPts val="0"/>
              </a:spcBef>
              <a:spcAft>
                <a:spcPts val="0"/>
              </a:spcAft>
              <a:buClr>
                <a:schemeClr val="dk1"/>
              </a:buClr>
              <a:buSzPts val="1400"/>
              <a:buChar char="●"/>
            </a:pPr>
            <a:r>
              <a:rPr lang="en-US" sz="1100">
                <a:latin typeface="Arial"/>
                <a:ea typeface="Arial"/>
                <a:cs typeface="Arial"/>
                <a:sym typeface="Arial"/>
              </a:rPr>
              <a:t>Auf Grundlage unserer Analyse können wir die Forschungsfrage nicht mit einem eindeutigen Ja oder Nein beantworten.</a:t>
            </a:r>
            <a:endParaRPr sz="1100">
              <a:latin typeface="Arial"/>
              <a:ea typeface="Arial"/>
              <a:cs typeface="Arial"/>
              <a:sym typeface="Arial"/>
            </a:endParaRPr>
          </a:p>
          <a:p>
            <a:pPr indent="-298450" lvl="0" marL="457200" rtl="0" algn="l">
              <a:lnSpc>
                <a:spcPct val="125000"/>
              </a:lnSpc>
              <a:spcBef>
                <a:spcPts val="0"/>
              </a:spcBef>
              <a:spcAft>
                <a:spcPts val="0"/>
              </a:spcAft>
              <a:buClr>
                <a:schemeClr val="dk1"/>
              </a:buClr>
              <a:buSzPts val="1100"/>
              <a:buChar char="●"/>
            </a:pPr>
            <a:r>
              <a:rPr lang="en-US" sz="1100">
                <a:latin typeface="Arial"/>
                <a:ea typeface="Arial"/>
                <a:cs typeface="Arial"/>
                <a:sym typeface="Arial"/>
              </a:rPr>
              <a:t>Empfehlung weiterer Maßnahmen im Anhang</a:t>
            </a:r>
            <a:endParaRPr sz="1100">
              <a:latin typeface="Arial"/>
              <a:ea typeface="Arial"/>
              <a:cs typeface="Arial"/>
              <a:sym typeface="Arial"/>
            </a:endParaRPr>
          </a:p>
          <a:p>
            <a:pPr indent="-317500" lvl="0" marL="457200" rtl="0" algn="l">
              <a:lnSpc>
                <a:spcPct val="125000"/>
              </a:lnSpc>
              <a:spcBef>
                <a:spcPts val="0"/>
              </a:spcBef>
              <a:spcAft>
                <a:spcPts val="0"/>
              </a:spcAft>
              <a:buClr>
                <a:schemeClr val="dk1"/>
              </a:buClr>
              <a:buSzPts val="1400"/>
              <a:buChar char="●"/>
            </a:pPr>
            <a:r>
              <a:rPr lang="en-US" sz="1150"/>
              <a:t>Kein pauschales Pro/Contra möglich. </a:t>
            </a:r>
            <a:endParaRPr sz="1150"/>
          </a:p>
          <a:p>
            <a:pPr indent="-317500" lvl="0" marL="457200" rtl="0" algn="l">
              <a:lnSpc>
                <a:spcPct val="125000"/>
              </a:lnSpc>
              <a:spcBef>
                <a:spcPts val="0"/>
              </a:spcBef>
              <a:spcAft>
                <a:spcPts val="0"/>
              </a:spcAft>
              <a:buClr>
                <a:schemeClr val="dk1"/>
              </a:buClr>
              <a:buSzPts val="1400"/>
              <a:buChar char="●"/>
            </a:pPr>
            <a:r>
              <a:rPr lang="en-US" sz="1150"/>
              <a:t>Bei Kern-Hardware kein belegbarer Nutzen hoher Rabatte (Contra-Position gestützt); bei Zubehör uneindeutig. Ohne Kostendaten ist der Effekt auf die Marge nicht messbar — das bleibt die zentrale Einschränkung dieser Analyse. </a:t>
            </a:r>
            <a:r>
              <a:rPr lang="en-US" sz="1100">
                <a:latin typeface="Arial"/>
                <a:ea typeface="Arial"/>
                <a:cs typeface="Arial"/>
                <a:sym typeface="Arial"/>
              </a:rPr>
              <a:t>Zusammenfassend können wir sagen, dass eine gezielte und datenbasierte Rabattstrategie langfristig erfolgversprechender ist als eine pauschale Rabattstrategie.</a:t>
            </a:r>
            <a:endParaRPr sz="1100">
              <a:latin typeface="Arial"/>
              <a:ea typeface="Arial"/>
              <a:cs typeface="Arial"/>
              <a:sym typeface="Arial"/>
            </a:endParaRPr>
          </a:p>
          <a:p>
            <a:pPr indent="-298450" lvl="0" marL="457200" rtl="0" algn="l">
              <a:lnSpc>
                <a:spcPct val="125000"/>
              </a:lnSpc>
              <a:spcBef>
                <a:spcPts val="0"/>
              </a:spcBef>
              <a:spcAft>
                <a:spcPts val="0"/>
              </a:spcAft>
              <a:buClr>
                <a:schemeClr val="dk1"/>
              </a:buClr>
              <a:buSzPts val="1100"/>
              <a:buChar char="●"/>
            </a:pPr>
            <a:r>
              <a:rPr lang="en-US" sz="1100">
                <a:latin typeface="Arial"/>
                <a:ea typeface="Arial"/>
                <a:cs typeface="Arial"/>
                <a:sym typeface="Arial"/>
              </a:rPr>
              <a:t>Unsere Analysen zeigen, dass sich die Rabattwirkung je nach Produkt und Saison unterscheidet und hohe Rabatte nicht automatisch zu besseren Ergebnissen führen. Deshalb empfehlen wir ein intelligentes Rabattmanagement-System, das Rabatte automatisch anhand von Produkttyp, Saison und Nachfrage vorschlägt.</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Original-Text Abschnitt 10 (Notebook, Zusammenfassung/Entscheidungsgrundlage für den CEO):</a:t>
            </a:r>
            <a:br>
              <a:rPr lang="en-US"/>
            </a:br>
            <a:r>
              <a:rPr lang="en-US"/>
              <a:t>'Empfehlung (Entwurf): Kein pauschales Pro/Contra. Bei Kern-Hardware kein belegbarer Nutzen hoher Rabatte (Contra-Position gestützt); bei Zubehör uneindeutig. Entscheidende Lücke bleibt: ohne Kostendaten ist der Effekt auf die Marge nicht belegbar - das ist selbst eine Kernbotschaft für den CEO.'</a:t>
            </a:r>
            <a:br>
              <a:rPr lang="en-US"/>
            </a:br>
            <a:r>
              <a:rPr lang="en-US"/>
              <a:t>-&gt; Im Vortrag bewusst neutraler formuliert (dritte Person, ohne direkte Ansprache), inhaltlich identisch.</a:t>
            </a:r>
            <a:br>
              <a:rPr lang="en-US"/>
            </a:br>
            <a:r>
              <a:rPr lang="en-US"/>
              <a:t>'Limitationen: keine Kostendaten (Marge nicht berechenbar), kein Wettbewerbervergleich, 2018 nur bis 14.03. (unvollständiges Jahr), keine Kunden-ID (keine Aussage zu Wiederkauf/Bindung möglich).'</a:t>
            </a:r>
            <a:br>
              <a:rPr lang="en-US"/>
            </a:br>
            <a:r>
              <a:rPr lang="en-US"/>
              <a:t>'Methodik-Hinweis (nur relevant für die Sales-Notebooks): Abschnitt 4 vergleicht zwei Kategorisierungs-Logiken zur Validierung der category-Spalte. Die eigentlichen Analysen (Abschnitt 7-9) nutzen durchgehend die Original-category-Spalte aus der CSV - die Kategorisierungs-Variante beeinflusst diese Zusammenfassung daher nicht.'</a:t>
            </a:r>
            <a:br>
              <a:rPr lang="en-US"/>
            </a:br>
            <a:r>
              <a:rPr lang="en-US"/>
              <a:t>Aus Abschnitt 8.4.1 (Pro-&amp;-Contra-Argumentation für den Abschlussbericht): 'Mangels Kostendaten kann der Bericht nicht final gelöst werden. Weder das Marketing (mehr Aufträge/Wachstum) noch die Investoren (Qualitätssegment schützt Umsatz) können ihre Hypothese vollständig belegen. Am Ende zählen nur die harten Deckungsbeiträge. Nächster Schritt: Zugriff auf Einkaufspreise (Kosten), um den ROI je Rabattstufe zu berechnen.'</a:t>
            </a:r>
            <a:endParaRPr/>
          </a:p>
        </p:txBody>
      </p:sp>
      <p:sp>
        <p:nvSpPr>
          <p:cNvPr id="94" name="Google Shape;9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4fd8f115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g3f4fd8f115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g3f4fd8f115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731520" y="4526280"/>
            <a:ext cx="2514600" cy="1234440"/>
          </a:xfrm>
          <a:prstGeom prst="roundRect">
            <a:avLst>
              <a:gd fmla="val 5926" name="adj"/>
            </a:avLst>
          </a:prstGeom>
          <a:solidFill>
            <a:srgbClr val="2734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868680" y="4663440"/>
            <a:ext cx="2240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45.418</a:t>
            </a:r>
            <a:endParaRPr b="0" i="0" sz="2200" u="none" cap="none" strike="noStrike">
              <a:solidFill>
                <a:schemeClr val="dk1"/>
              </a:solidFill>
              <a:latin typeface="Calibri"/>
              <a:ea typeface="Calibri"/>
              <a:cs typeface="Calibri"/>
              <a:sym typeface="Calibri"/>
            </a:endParaRPr>
          </a:p>
        </p:txBody>
      </p:sp>
      <p:sp>
        <p:nvSpPr>
          <p:cNvPr id="18" name="Google Shape;18;p1"/>
          <p:cNvSpPr/>
          <p:nvPr/>
        </p:nvSpPr>
        <p:spPr>
          <a:xfrm>
            <a:off x="868680" y="5257800"/>
            <a:ext cx="22402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Bestellungen (bereinigt)</a:t>
            </a:r>
            <a:endParaRPr b="0" i="0" sz="1100" u="none" cap="none" strike="noStrike">
              <a:solidFill>
                <a:schemeClr val="dk1"/>
              </a:solidFill>
              <a:latin typeface="Calibri"/>
              <a:ea typeface="Calibri"/>
              <a:cs typeface="Calibri"/>
              <a:sym typeface="Calibri"/>
            </a:endParaRPr>
          </a:p>
        </p:txBody>
      </p:sp>
      <p:sp>
        <p:nvSpPr>
          <p:cNvPr id="19" name="Google Shape;19;p1"/>
          <p:cNvSpPr/>
          <p:nvPr/>
        </p:nvSpPr>
        <p:spPr>
          <a:xfrm>
            <a:off x="3474720" y="4526280"/>
            <a:ext cx="2514600" cy="1234440"/>
          </a:xfrm>
          <a:prstGeom prst="roundRect">
            <a:avLst>
              <a:gd fmla="val 5926" name="adj"/>
            </a:avLst>
          </a:prstGeom>
          <a:solidFill>
            <a:srgbClr val="2734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3611880" y="4663440"/>
            <a:ext cx="2240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15,36 Mio €</a:t>
            </a:r>
            <a:endParaRPr b="0" i="0" sz="2200" u="none" cap="none" strike="noStrike">
              <a:solidFill>
                <a:schemeClr val="dk1"/>
              </a:solidFill>
              <a:latin typeface="Calibri"/>
              <a:ea typeface="Calibri"/>
              <a:cs typeface="Calibri"/>
              <a:sym typeface="Calibri"/>
            </a:endParaRPr>
          </a:p>
        </p:txBody>
      </p:sp>
      <p:sp>
        <p:nvSpPr>
          <p:cNvPr id="21" name="Google Shape;21;p1"/>
          <p:cNvSpPr/>
          <p:nvPr/>
        </p:nvSpPr>
        <p:spPr>
          <a:xfrm>
            <a:off x="3611880" y="5257800"/>
            <a:ext cx="22402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Gesamtumsatz</a:t>
            </a:r>
            <a:endParaRPr b="0" i="0" sz="1100" u="none" cap="none" strike="noStrike">
              <a:solidFill>
                <a:schemeClr val="dk1"/>
              </a:solidFill>
              <a:latin typeface="Calibri"/>
              <a:ea typeface="Calibri"/>
              <a:cs typeface="Calibri"/>
              <a:sym typeface="Calibri"/>
            </a:endParaRPr>
          </a:p>
        </p:txBody>
      </p:sp>
      <p:sp>
        <p:nvSpPr>
          <p:cNvPr id="22" name="Google Shape;22;p1"/>
          <p:cNvSpPr/>
          <p:nvPr/>
        </p:nvSpPr>
        <p:spPr>
          <a:xfrm>
            <a:off x="6217920" y="4526280"/>
            <a:ext cx="2514600" cy="1234440"/>
          </a:xfrm>
          <a:prstGeom prst="roundRect">
            <a:avLst>
              <a:gd fmla="val 5926" name="adj"/>
            </a:avLst>
          </a:prstGeom>
          <a:solidFill>
            <a:srgbClr val="2734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6355080" y="4663440"/>
            <a:ext cx="2240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Jan 17 – Mär 18</a:t>
            </a:r>
            <a:endParaRPr b="0" i="0" sz="2200" u="none" cap="none" strike="noStrike">
              <a:solidFill>
                <a:schemeClr val="dk1"/>
              </a:solidFill>
              <a:latin typeface="Calibri"/>
              <a:ea typeface="Calibri"/>
              <a:cs typeface="Calibri"/>
              <a:sym typeface="Calibri"/>
            </a:endParaRPr>
          </a:p>
        </p:txBody>
      </p:sp>
      <p:sp>
        <p:nvSpPr>
          <p:cNvPr id="24" name="Google Shape;24;p1"/>
          <p:cNvSpPr/>
          <p:nvPr/>
        </p:nvSpPr>
        <p:spPr>
          <a:xfrm>
            <a:off x="6355080" y="5257800"/>
            <a:ext cx="22402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Datenzeitraum</a:t>
            </a:r>
            <a:endParaRPr b="0" i="0" sz="1100" u="none" cap="none" strike="noStrike">
              <a:solidFill>
                <a:schemeClr val="dk1"/>
              </a:solidFill>
              <a:latin typeface="Calibri"/>
              <a:ea typeface="Calibri"/>
              <a:cs typeface="Calibri"/>
              <a:sym typeface="Calibri"/>
            </a:endParaRPr>
          </a:p>
        </p:txBody>
      </p:sp>
      <p:sp>
        <p:nvSpPr>
          <p:cNvPr id="25" name="Google Shape;25;p1"/>
          <p:cNvSpPr/>
          <p:nvPr/>
        </p:nvSpPr>
        <p:spPr>
          <a:xfrm>
            <a:off x="8961120" y="4526280"/>
            <a:ext cx="2514600" cy="1234440"/>
          </a:xfrm>
          <a:prstGeom prst="roundRect">
            <a:avLst>
              <a:gd fmla="val 5926" name="adj"/>
            </a:avLst>
          </a:prstGeom>
          <a:solidFill>
            <a:srgbClr val="2734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9098280" y="4663440"/>
            <a:ext cx="2240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93,1 %</a:t>
            </a:r>
            <a:endParaRPr b="0" i="0" sz="2200" u="none" cap="none" strike="noStrike">
              <a:solidFill>
                <a:schemeClr val="dk1"/>
              </a:solidFill>
              <a:latin typeface="Calibri"/>
              <a:ea typeface="Calibri"/>
              <a:cs typeface="Calibri"/>
              <a:sym typeface="Calibri"/>
            </a:endParaRPr>
          </a:p>
        </p:txBody>
      </p:sp>
      <p:sp>
        <p:nvSpPr>
          <p:cNvPr id="27" name="Google Shape;27;p1"/>
          <p:cNvSpPr/>
          <p:nvPr/>
        </p:nvSpPr>
        <p:spPr>
          <a:xfrm>
            <a:off x="9098280" y="5257800"/>
            <a:ext cx="22402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Positionen rabattiert</a:t>
            </a:r>
            <a:endParaRPr b="0" i="0" sz="1100" u="none" cap="none" strike="noStrike">
              <a:solidFill>
                <a:schemeClr val="dk1"/>
              </a:solidFill>
              <a:latin typeface="Calibri"/>
              <a:ea typeface="Calibri"/>
              <a:cs typeface="Calibri"/>
              <a:sym typeface="Calibri"/>
            </a:endParaRPr>
          </a:p>
        </p:txBody>
      </p:sp>
      <p:sp>
        <p:nvSpPr>
          <p:cNvPr id="28" name="Google Shape;28;p1"/>
          <p:cNvSpPr/>
          <p:nvPr/>
        </p:nvSpPr>
        <p:spPr>
          <a:xfrm>
            <a:off x="731520" y="635508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C9BD6"/>
              </a:buClr>
              <a:buSzPts val="1000"/>
              <a:buFont typeface="Calibri"/>
              <a:buNone/>
            </a:pPr>
            <a:r>
              <a:rPr b="0" i="0" lang="en-US" sz="1000" u="none" cap="none" strike="noStrike">
                <a:solidFill>
                  <a:srgbClr val="8C9BD6"/>
                </a:solidFill>
                <a:latin typeface="Calibri"/>
                <a:ea typeface="Calibri"/>
                <a:cs typeface="Calibri"/>
                <a:sym typeface="Calibri"/>
              </a:rPr>
              <a:t>Entwurf · Einzelanalyse · Grundlage für Gruppenarbeit vom 13.07.2026</a:t>
            </a:r>
            <a:endParaRPr b="0" i="0" sz="1000" u="none" cap="none" strike="noStrike">
              <a:solidFill>
                <a:schemeClr val="dk1"/>
              </a:solidFill>
              <a:latin typeface="Calibri"/>
              <a:ea typeface="Calibri"/>
              <a:cs typeface="Calibri"/>
              <a:sym typeface="Calibri"/>
            </a:endParaRPr>
          </a:p>
        </p:txBody>
      </p:sp>
      <p:pic>
        <p:nvPicPr>
          <p:cNvPr id="29" name="Google Shape;29;p1" title="ChatGPT Image 14. Juli 2026, 15_47_02.png"/>
          <p:cNvPicPr preferRelativeResize="0"/>
          <p:nvPr/>
        </p:nvPicPr>
        <p:blipFill>
          <a:blip r:embed="rId3">
            <a:alphaModFix/>
          </a:blip>
          <a:stretch>
            <a:fillRect/>
          </a:stretch>
        </p:blipFill>
        <p:spPr>
          <a:xfrm>
            <a:off x="2402625" y="144925"/>
            <a:ext cx="7537177" cy="4135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 name="Shape 34"/>
        <p:cNvGrpSpPr/>
        <p:nvPr/>
      </p:nvGrpSpPr>
      <p:grpSpPr>
        <a:xfrm>
          <a:off x="0" y="0"/>
          <a:ext cx="0" cy="0"/>
          <a:chOff x="0" y="0"/>
          <a:chExt cx="0" cy="0"/>
        </a:xfrm>
      </p:grpSpPr>
      <p:sp>
        <p:nvSpPr>
          <p:cNvPr id="35" name="Google Shape;35;p2"/>
          <p:cNvSpPr/>
          <p:nvPr/>
        </p:nvSpPr>
        <p:spPr>
          <a:xfrm>
            <a:off x="548640" y="365760"/>
            <a:ext cx="110642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Datenqualität: Vom Rohdatensatz zur Analysebasis</a:t>
            </a:r>
            <a:endParaRPr b="0" i="0" sz="2600" u="none" cap="none" strike="noStrike">
              <a:solidFill>
                <a:schemeClr val="dk1"/>
              </a:solidFill>
              <a:latin typeface="Calibri"/>
              <a:ea typeface="Calibri"/>
              <a:cs typeface="Calibri"/>
              <a:sym typeface="Calibri"/>
            </a:endParaRPr>
          </a:p>
        </p:txBody>
      </p:sp>
      <p:sp>
        <p:nvSpPr>
          <p:cNvPr id="36" name="Google Shape;36;p2"/>
          <p:cNvSpPr/>
          <p:nvPr/>
        </p:nvSpPr>
        <p:spPr>
          <a:xfrm>
            <a:off x="548650" y="896098"/>
            <a:ext cx="110643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300"/>
              <a:buFont typeface="Calibri"/>
              <a:buNone/>
            </a:pPr>
            <a:r>
              <a:rPr b="0" i="0" lang="en-US" sz="1300" u="none" cap="none" strike="noStrike">
                <a:solidFill>
                  <a:srgbClr val="5A6472"/>
                </a:solidFill>
                <a:latin typeface="Calibri"/>
                <a:ea typeface="Calibri"/>
                <a:cs typeface="Calibri"/>
                <a:sym typeface="Calibri"/>
              </a:rPr>
              <a:t>Bereinigung &amp; Qualitätssicherung  ·  Abschnitt 01 (Datenbereinigung) / 02 (Datenqualität)</a:t>
            </a:r>
            <a:endParaRPr sz="1300">
              <a:solidFill>
                <a:srgbClr val="5A6472"/>
              </a:solidFill>
              <a:latin typeface="Calibri"/>
              <a:ea typeface="Calibri"/>
              <a:cs typeface="Calibri"/>
              <a:sym typeface="Calibri"/>
            </a:endParaRPr>
          </a:p>
        </p:txBody>
      </p:sp>
      <p:sp>
        <p:nvSpPr>
          <p:cNvPr id="37" name="Google Shape;37;p2"/>
          <p:cNvSpPr/>
          <p:nvPr/>
        </p:nvSpPr>
        <p:spPr>
          <a:xfrm>
            <a:off x="548640" y="1417320"/>
            <a:ext cx="6035040" cy="566928"/>
          </a:xfrm>
          <a:prstGeom prst="roundRect">
            <a:avLst>
              <a:gd fmla="val 9677" name="adj"/>
            </a:avLst>
          </a:prstGeom>
          <a:solidFill>
            <a:srgbClr val="3A4C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685800" y="1444752"/>
            <a:ext cx="146304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226.904</a:t>
            </a:r>
            <a:endParaRPr b="0" i="0" sz="1500" u="none" cap="none" strike="noStrike">
              <a:solidFill>
                <a:schemeClr val="dk1"/>
              </a:solidFill>
              <a:latin typeface="Calibri"/>
              <a:ea typeface="Calibri"/>
              <a:cs typeface="Calibri"/>
              <a:sym typeface="Calibri"/>
            </a:endParaRPr>
          </a:p>
        </p:txBody>
      </p:sp>
      <p:sp>
        <p:nvSpPr>
          <p:cNvPr id="39" name="Google Shape;39;p2"/>
          <p:cNvSpPr/>
          <p:nvPr/>
        </p:nvSpPr>
        <p:spPr>
          <a:xfrm>
            <a:off x="937260" y="2093976"/>
            <a:ext cx="5257800" cy="566928"/>
          </a:xfrm>
          <a:prstGeom prst="roundRect">
            <a:avLst>
              <a:gd fmla="val 9677" name="adj"/>
            </a:avLst>
          </a:prstGeom>
          <a:solidFill>
            <a:srgbClr val="34448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1074420" y="2121408"/>
            <a:ext cx="146304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46.605</a:t>
            </a:r>
            <a:endParaRPr b="0" i="0" sz="1500" u="none" cap="none" strike="noStrike">
              <a:solidFill>
                <a:schemeClr val="dk1"/>
              </a:solidFill>
              <a:latin typeface="Calibri"/>
              <a:ea typeface="Calibri"/>
              <a:cs typeface="Calibri"/>
              <a:sym typeface="Calibri"/>
            </a:endParaRPr>
          </a:p>
        </p:txBody>
      </p:sp>
      <p:sp>
        <p:nvSpPr>
          <p:cNvPr id="41" name="Google Shape;41;p2"/>
          <p:cNvSpPr/>
          <p:nvPr/>
        </p:nvSpPr>
        <p:spPr>
          <a:xfrm>
            <a:off x="1325880" y="2770632"/>
            <a:ext cx="4480560" cy="566928"/>
          </a:xfrm>
          <a:prstGeom prst="roundRect">
            <a:avLst>
              <a:gd fmla="val 9677" name="adj"/>
            </a:avLst>
          </a:prstGeom>
          <a:solidFill>
            <a:srgbClr val="2E3C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1463040" y="2798064"/>
            <a:ext cx="146304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46.560</a:t>
            </a:r>
            <a:endParaRPr b="0" i="0" sz="1500" u="none" cap="none" strike="noStrike">
              <a:solidFill>
                <a:schemeClr val="dk1"/>
              </a:solidFill>
              <a:latin typeface="Calibri"/>
              <a:ea typeface="Calibri"/>
              <a:cs typeface="Calibri"/>
              <a:sym typeface="Calibri"/>
            </a:endParaRPr>
          </a:p>
        </p:txBody>
      </p:sp>
      <p:sp>
        <p:nvSpPr>
          <p:cNvPr id="43" name="Google Shape;43;p2"/>
          <p:cNvSpPr/>
          <p:nvPr/>
        </p:nvSpPr>
        <p:spPr>
          <a:xfrm>
            <a:off x="1714500" y="3447288"/>
            <a:ext cx="3703320" cy="566928"/>
          </a:xfrm>
          <a:prstGeom prst="roundRect">
            <a:avLst>
              <a:gd fmla="val 9677" name="adj"/>
            </a:avLst>
          </a:prstGeom>
          <a:solidFill>
            <a:srgbClr val="28347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1851660" y="3474720"/>
            <a:ext cx="146304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46.172</a:t>
            </a:r>
            <a:endParaRPr b="0" i="0" sz="1500" u="none" cap="none" strike="noStrike">
              <a:solidFill>
                <a:schemeClr val="dk1"/>
              </a:solidFill>
              <a:latin typeface="Calibri"/>
              <a:ea typeface="Calibri"/>
              <a:cs typeface="Calibri"/>
              <a:sym typeface="Calibri"/>
            </a:endParaRPr>
          </a:p>
        </p:txBody>
      </p:sp>
      <p:sp>
        <p:nvSpPr>
          <p:cNvPr id="45" name="Google Shape;45;p2"/>
          <p:cNvSpPr/>
          <p:nvPr/>
        </p:nvSpPr>
        <p:spPr>
          <a:xfrm>
            <a:off x="2103120" y="4123944"/>
            <a:ext cx="2926080" cy="566928"/>
          </a:xfrm>
          <a:prstGeom prst="roundRect">
            <a:avLst>
              <a:gd fmla="val 9677" name="adj"/>
            </a:avLst>
          </a:prstGeom>
          <a:solidFill>
            <a:srgbClr val="1E27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2240280" y="4151376"/>
            <a:ext cx="146304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45.418</a:t>
            </a:r>
            <a:endParaRPr b="0" i="0" sz="1500" u="none" cap="none" strike="noStrike">
              <a:solidFill>
                <a:schemeClr val="dk1"/>
              </a:solidFill>
              <a:latin typeface="Calibri"/>
              <a:ea typeface="Calibri"/>
              <a:cs typeface="Calibri"/>
              <a:sym typeface="Calibri"/>
            </a:endParaRPr>
          </a:p>
        </p:txBody>
      </p:sp>
      <p:sp>
        <p:nvSpPr>
          <p:cNvPr id="47" name="Google Shape;47;p2"/>
          <p:cNvSpPr/>
          <p:nvPr/>
        </p:nvSpPr>
        <p:spPr>
          <a:xfrm>
            <a:off x="6720840" y="1463040"/>
            <a:ext cx="4937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150"/>
              <a:buFont typeface="Calibri"/>
              <a:buNone/>
            </a:pPr>
            <a:r>
              <a:rPr b="0" i="0" lang="en-US" sz="1450" u="none" cap="none" strike="noStrike">
                <a:solidFill>
                  <a:srgbClr val="5A6472"/>
                </a:solidFill>
                <a:latin typeface="Calibri"/>
                <a:ea typeface="Calibri"/>
                <a:cs typeface="Calibri"/>
                <a:sym typeface="Calibri"/>
              </a:rPr>
              <a:t>Bestellungen — Rohdatensatz (orders, alle Status)  ·  100,0 % erhalten</a:t>
            </a:r>
            <a:endParaRPr b="0" i="0" sz="1450" u="none" cap="none" strike="noStrike">
              <a:solidFill>
                <a:schemeClr val="dk1"/>
              </a:solidFill>
              <a:latin typeface="Calibri"/>
              <a:ea typeface="Calibri"/>
              <a:cs typeface="Calibri"/>
              <a:sym typeface="Calibri"/>
            </a:endParaRPr>
          </a:p>
        </p:txBody>
      </p:sp>
      <p:sp>
        <p:nvSpPr>
          <p:cNvPr id="48" name="Google Shape;48;p2"/>
          <p:cNvSpPr/>
          <p:nvPr/>
        </p:nvSpPr>
        <p:spPr>
          <a:xfrm>
            <a:off x="6720840" y="2139696"/>
            <a:ext cx="4937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150"/>
              <a:buFont typeface="Calibri"/>
              <a:buNone/>
            </a:pPr>
            <a:r>
              <a:rPr b="1" i="0" lang="en-US" sz="1850" u="none" cap="none" strike="noStrike">
                <a:solidFill>
                  <a:srgbClr val="5A6472"/>
                </a:solidFill>
                <a:latin typeface="Calibri"/>
                <a:ea typeface="Calibri"/>
                <a:cs typeface="Calibri"/>
                <a:sym typeface="Calibri"/>
              </a:rPr>
              <a:t>Nur Status „Completed“  ·  20,5 % erhalten (Hauptverlust: nur „Completed“-Bestellungen zählen)</a:t>
            </a:r>
            <a:endParaRPr b="1" i="0" sz="1850" u="none" cap="none" strike="noStrike">
              <a:solidFill>
                <a:schemeClr val="dk1"/>
              </a:solidFill>
              <a:latin typeface="Calibri"/>
              <a:ea typeface="Calibri"/>
              <a:cs typeface="Calibri"/>
              <a:sym typeface="Calibri"/>
            </a:endParaRPr>
          </a:p>
        </p:txBody>
      </p:sp>
      <p:sp>
        <p:nvSpPr>
          <p:cNvPr id="49" name="Google Shape;49;p2"/>
          <p:cNvSpPr/>
          <p:nvPr/>
        </p:nvSpPr>
        <p:spPr>
          <a:xfrm>
            <a:off x="6720840" y="2816352"/>
            <a:ext cx="4937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150"/>
              <a:buFont typeface="Calibri"/>
              <a:buNone/>
            </a:pPr>
            <a:r>
              <a:rPr b="0" i="0" lang="en-US" sz="1450" u="none" cap="none" strike="noStrike">
                <a:solidFill>
                  <a:srgbClr val="5A6472"/>
                </a:solidFill>
                <a:latin typeface="Calibri"/>
                <a:ea typeface="Calibri"/>
                <a:cs typeface="Calibri"/>
                <a:sym typeface="Calibri"/>
              </a:rPr>
              <a:t>IDs orders ↔ orderlines abgeglichen  ·  99,9 % erhalten</a:t>
            </a:r>
            <a:endParaRPr b="0" i="0" sz="1450" u="none" cap="none" strike="noStrike">
              <a:solidFill>
                <a:schemeClr val="dk1"/>
              </a:solidFill>
              <a:latin typeface="Calibri"/>
              <a:ea typeface="Calibri"/>
              <a:cs typeface="Calibri"/>
              <a:sym typeface="Calibri"/>
            </a:endParaRPr>
          </a:p>
        </p:txBody>
      </p:sp>
      <p:sp>
        <p:nvSpPr>
          <p:cNvPr id="50" name="Google Shape;50;p2"/>
          <p:cNvSpPr/>
          <p:nvPr/>
        </p:nvSpPr>
        <p:spPr>
          <a:xfrm>
            <a:off x="6720840" y="3493008"/>
            <a:ext cx="49377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150"/>
              <a:buFont typeface="Calibri"/>
              <a:buNone/>
            </a:pPr>
            <a:r>
              <a:rPr b="0" i="0" lang="en-US" sz="1450" u="none" cap="none" strike="noStrike">
                <a:solidFill>
                  <a:srgbClr val="5A6472"/>
                </a:solidFill>
                <a:latin typeface="Calibri"/>
                <a:ea typeface="Calibri"/>
                <a:cs typeface="Calibri"/>
                <a:sym typeface="Calibri"/>
              </a:rPr>
              <a:t>Bestellungen mit bekannten Produkten  ·  99,2 % erhalten</a:t>
            </a:r>
            <a:endParaRPr b="0" i="0" sz="1450" u="none" cap="none" strike="noStrike">
              <a:solidFill>
                <a:schemeClr val="dk1"/>
              </a:solidFill>
              <a:latin typeface="Calibri"/>
              <a:ea typeface="Calibri"/>
              <a:cs typeface="Calibri"/>
              <a:sym typeface="Calibri"/>
            </a:endParaRPr>
          </a:p>
        </p:txBody>
      </p:sp>
      <p:sp>
        <p:nvSpPr>
          <p:cNvPr id="51" name="Google Shape;51;p2"/>
          <p:cNvSpPr/>
          <p:nvPr/>
        </p:nvSpPr>
        <p:spPr>
          <a:xfrm>
            <a:off x="6720840" y="4169664"/>
            <a:ext cx="4937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150"/>
              <a:buFont typeface="Calibri"/>
              <a:buNone/>
            </a:pPr>
            <a:r>
              <a:rPr b="0" i="0" lang="en-US" sz="1450" u="none" cap="none" strike="noStrike">
                <a:solidFill>
                  <a:srgbClr val="5A6472"/>
                </a:solidFill>
                <a:latin typeface="Calibri"/>
                <a:ea typeface="Calibri"/>
                <a:cs typeface="Calibri"/>
                <a:sym typeface="Calibri"/>
              </a:rPr>
              <a:t>Nach Ausreißer-Entfernung — finale Analysebasis  ·  98,4 % erhalten</a:t>
            </a:r>
            <a:endParaRPr b="0" i="0" sz="1450" u="none" cap="none" strike="noStrike">
              <a:solidFill>
                <a:schemeClr val="dk1"/>
              </a:solidFill>
              <a:latin typeface="Calibri"/>
              <a:ea typeface="Calibri"/>
              <a:cs typeface="Calibri"/>
              <a:sym typeface="Calibri"/>
            </a:endParaRPr>
          </a:p>
        </p:txBody>
      </p:sp>
      <p:sp>
        <p:nvSpPr>
          <p:cNvPr id="52" name="Google Shape;52;p2"/>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000"/>
              <a:buFont typeface="Calibri"/>
              <a:buNone/>
            </a:pPr>
            <a:r>
              <a:rPr b="0" i="0" lang="en-US" sz="1000" u="none" cap="none" strike="noStrike">
                <a:solidFill>
                  <a:srgbClr val="5A6472"/>
                </a:solidFill>
                <a:latin typeface="Calibri"/>
                <a:ea typeface="Calibri"/>
                <a:cs typeface="Calibri"/>
                <a:sym typeface="Calibri"/>
              </a:rPr>
              <a:t>Eniac Rabattstrategie  |  Data-Analytics-Department</a:t>
            </a:r>
            <a:endParaRPr b="0" i="0" sz="1000" u="none" cap="none" strike="noStrike">
              <a:solidFill>
                <a:schemeClr val="dk1"/>
              </a:solidFill>
              <a:latin typeface="Calibri"/>
              <a:ea typeface="Calibri"/>
              <a:cs typeface="Calibri"/>
              <a:sym typeface="Calibri"/>
            </a:endParaRPr>
          </a:p>
        </p:txBody>
      </p:sp>
      <p:sp>
        <p:nvSpPr>
          <p:cNvPr id="53" name="Google Shape;53;p2"/>
          <p:cNvSpPr/>
          <p:nvPr/>
        </p:nvSpPr>
        <p:spPr>
          <a:xfrm>
            <a:off x="11277295"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472"/>
              </a:buClr>
              <a:buSzPts val="1000"/>
              <a:buFont typeface="Calibri"/>
              <a:buNone/>
            </a:pPr>
            <a:r>
              <a:rPr b="0" i="0" lang="en-US" sz="1000" u="none" cap="none" strike="noStrike">
                <a:solidFill>
                  <a:srgbClr val="5A6472"/>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54" name="Rounded Rectangle 53"/>
          <p:cNvSpPr/>
          <p:nvPr/>
        </p:nvSpPr>
        <p:spPr>
          <a:xfrm>
            <a:off x="6720840" y="5000000"/>
            <a:ext cx="4937760" cy="11000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300">
                <a:solidFill>
                  <a:srgbClr val="FFFFFF"/>
                </a:solidFill>
                <a:latin typeface="Calibri"/>
              </a:rPr>
              <a:t>80,0 % der Rohdaten wurden im Zuge der Bereinigung entfernt (Duplikate, fehlerhafte Werte, Ausreißer).</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3"/>
          <p:cNvSpPr/>
          <p:nvPr/>
        </p:nvSpPr>
        <p:spPr>
          <a:xfrm>
            <a:off x="548640" y="365760"/>
            <a:ext cx="8686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Kernbefund: Rabatt treibt keine Menge</a:t>
            </a:r>
            <a:endParaRPr b="0" i="0" sz="2800" u="none" cap="none" strike="noStrike">
              <a:solidFill>
                <a:schemeClr val="dk1"/>
              </a:solidFill>
              <a:latin typeface="Calibri"/>
              <a:ea typeface="Calibri"/>
              <a:cs typeface="Calibri"/>
              <a:sym typeface="Calibri"/>
            </a:endParaRPr>
          </a:p>
        </p:txBody>
      </p:sp>
      <p:sp>
        <p:nvSpPr>
          <p:cNvPr id="60" name="Google Shape;60;p3"/>
          <p:cNvSpPr/>
          <p:nvPr/>
        </p:nvSpPr>
        <p:spPr>
          <a:xfrm>
            <a:off x="548650" y="896095"/>
            <a:ext cx="86868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300"/>
              <a:buFont typeface="Calibri"/>
              <a:buNone/>
            </a:pPr>
            <a:r>
              <a:rPr b="0" i="0" lang="en-US" sz="1800" u="none" cap="none" strike="noStrike">
                <a:solidFill>
                  <a:srgbClr val="5A6472"/>
                </a:solidFill>
                <a:latin typeface="Calibri"/>
                <a:ea typeface="Calibri"/>
                <a:cs typeface="Calibri"/>
                <a:sym typeface="Calibri"/>
              </a:rPr>
              <a:t>Bestellanzahl &amp; verkaufte Menge je Rabattstufe  ·  </a:t>
            </a:r>
            <a:endParaRPr b="0" i="0" sz="1800" u="none" cap="none" strike="noStrike">
              <a:solidFill>
                <a:schemeClr val="dk1"/>
              </a:solidFill>
              <a:latin typeface="Calibri"/>
              <a:ea typeface="Calibri"/>
              <a:cs typeface="Calibri"/>
              <a:sym typeface="Calibri"/>
            </a:endParaRPr>
          </a:p>
        </p:txBody>
      </p:sp>
      <p:graphicFrame>
        <p:nvGraphicFramePr>
          <p:cNvPr id="61" name="Google Shape;61;p3"/>
          <p:cNvGraphicFramePr/>
          <p:nvPr/>
        </p:nvGraphicFramePr>
        <p:xfrm>
          <a:off x="411475" y="1485900"/>
          <a:ext cx="8235600" cy="4846200"/>
        </p:xfrm>
        <a:graphic>
          <a:graphicData uri="http://schemas.openxmlformats.org/drawingml/2006/chart">
            <c:chart r:id="rId3"/>
          </a:graphicData>
        </a:graphic>
      </p:graphicFrame>
      <p:sp>
        <p:nvSpPr>
          <p:cNvPr id="62" name="Google Shape;62;p3"/>
          <p:cNvSpPr/>
          <p:nvPr/>
        </p:nvSpPr>
        <p:spPr>
          <a:xfrm>
            <a:off x="9028047" y="1371600"/>
            <a:ext cx="2721900" cy="1965900"/>
          </a:xfrm>
          <a:prstGeom prst="roundRect">
            <a:avLst>
              <a:gd fmla="val 3721" name="adj"/>
            </a:avLst>
          </a:prstGeom>
          <a:solidFill>
            <a:srgbClr val="F3F6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
          <p:cNvSpPr/>
          <p:nvPr/>
        </p:nvSpPr>
        <p:spPr>
          <a:xfrm>
            <a:off x="9028052" y="1508750"/>
            <a:ext cx="2539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472"/>
              </a:buClr>
              <a:buSzPts val="1200"/>
              <a:buFont typeface="Calibri"/>
              <a:buNone/>
            </a:pPr>
            <a:r>
              <a:rPr b="0" i="0" lang="en-US" sz="1800" u="none" cap="none" strike="noStrike">
                <a:solidFill>
                  <a:srgbClr val="5A6472"/>
                </a:solidFill>
                <a:latin typeface="Calibri"/>
                <a:ea typeface="Calibri"/>
                <a:cs typeface="Calibri"/>
                <a:sym typeface="Calibri"/>
              </a:rPr>
              <a:t>Korrelation</a:t>
            </a:r>
            <a:endParaRPr b="0" i="0" sz="1800" u="none" cap="none" strike="noStrike">
              <a:solidFill>
                <a:schemeClr val="dk1"/>
              </a:solidFill>
              <a:latin typeface="Calibri"/>
              <a:ea typeface="Calibri"/>
              <a:cs typeface="Calibri"/>
              <a:sym typeface="Calibri"/>
            </a:endParaRPr>
          </a:p>
        </p:txBody>
      </p:sp>
      <p:sp>
        <p:nvSpPr>
          <p:cNvPr id="64" name="Google Shape;64;p3"/>
          <p:cNvSpPr/>
          <p:nvPr/>
        </p:nvSpPr>
        <p:spPr>
          <a:xfrm>
            <a:off x="9127399" y="1783075"/>
            <a:ext cx="2539200" cy="868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5400"/>
              <a:buFont typeface="Cambria"/>
              <a:buNone/>
            </a:pPr>
            <a:r>
              <a:rPr b="1" i="0" lang="en-US" sz="4200" u="none" cap="none" strike="noStrike">
                <a:solidFill>
                  <a:srgbClr val="1E2761"/>
                </a:solidFill>
                <a:latin typeface="Cambria"/>
                <a:ea typeface="Cambria"/>
                <a:cs typeface="Cambria"/>
                <a:sym typeface="Cambria"/>
              </a:rPr>
              <a:t>0,01</a:t>
            </a:r>
            <a:endParaRPr b="0" i="0" sz="4200" u="none" cap="none" strike="noStrike">
              <a:solidFill>
                <a:schemeClr val="dk1"/>
              </a:solidFill>
              <a:latin typeface="Calibri"/>
              <a:ea typeface="Calibri"/>
              <a:cs typeface="Calibri"/>
              <a:sym typeface="Calibri"/>
            </a:endParaRPr>
          </a:p>
        </p:txBody>
      </p:sp>
      <p:sp>
        <p:nvSpPr>
          <p:cNvPr id="65" name="Google Shape;65;p3"/>
          <p:cNvSpPr/>
          <p:nvPr/>
        </p:nvSpPr>
        <p:spPr>
          <a:xfrm>
            <a:off x="9028025" y="2606075"/>
            <a:ext cx="2539200" cy="1717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A6472"/>
              </a:buClr>
              <a:buSzPts val="1100"/>
              <a:buFont typeface="Calibri"/>
              <a:buNone/>
            </a:pPr>
            <a:r>
              <a:rPr b="1" i="0" lang="en-US" sz="1700" u="none" cap="none" strike="noStrike">
                <a:solidFill>
                  <a:srgbClr val="5A6472"/>
                </a:solidFill>
                <a:latin typeface="Calibri"/>
                <a:ea typeface="Calibri"/>
                <a:cs typeface="Calibri"/>
                <a:sym typeface="Calibri"/>
              </a:rPr>
              <a:t>Rabatt-% ↔ verkaufte Menge</a:t>
            </a:r>
            <a:endParaRPr b="1" i="0" sz="1700" u="none" cap="none" strike="noStrike">
              <a:solidFill>
                <a:srgbClr val="5A6472"/>
              </a:solidFill>
              <a:latin typeface="Calibri"/>
              <a:ea typeface="Calibri"/>
              <a:cs typeface="Calibri"/>
              <a:sym typeface="Calibri"/>
            </a:endParaRPr>
          </a:p>
          <a:p>
            <a:pPr indent="0" lvl="0" marL="0" marR="0" rtl="0" algn="ctr">
              <a:lnSpc>
                <a:spcPct val="120000"/>
              </a:lnSpc>
              <a:spcBef>
                <a:spcPts val="0"/>
              </a:spcBef>
              <a:spcAft>
                <a:spcPts val="0"/>
              </a:spcAft>
              <a:buClr>
                <a:srgbClr val="5A6472"/>
              </a:buClr>
              <a:buSzPts val="1100"/>
              <a:buFont typeface="Calibri"/>
              <a:buNone/>
            </a:pPr>
            <a:r>
              <a:t/>
            </a:r>
            <a:endParaRPr sz="1700">
              <a:solidFill>
                <a:srgbClr val="5A6472"/>
              </a:solidFill>
              <a:latin typeface="Calibri"/>
              <a:ea typeface="Calibri"/>
              <a:cs typeface="Calibri"/>
              <a:sym typeface="Calibri"/>
            </a:endParaRPr>
          </a:p>
          <a:p>
            <a:pPr indent="0" lvl="0" marL="0" marR="0" rtl="0" algn="ctr">
              <a:lnSpc>
                <a:spcPct val="120000"/>
              </a:lnSpc>
              <a:spcBef>
                <a:spcPts val="0"/>
              </a:spcBef>
              <a:spcAft>
                <a:spcPts val="0"/>
              </a:spcAft>
              <a:buClr>
                <a:srgbClr val="5A6472"/>
              </a:buClr>
              <a:buSzPts val="1100"/>
              <a:buFont typeface="Calibri"/>
              <a:buNone/>
            </a:pPr>
            <a:r>
              <a:rPr lang="en-US" sz="1700">
                <a:solidFill>
                  <a:srgbClr val="5A6472"/>
                </a:solidFill>
                <a:latin typeface="Calibri"/>
                <a:ea typeface="Calibri"/>
                <a:cs typeface="Calibri"/>
                <a:sym typeface="Calibri"/>
              </a:rPr>
              <a:t>p</a:t>
            </a:r>
            <a:r>
              <a:rPr b="0" i="0" lang="en-US" sz="1700" u="none" cap="none" strike="noStrike">
                <a:solidFill>
                  <a:srgbClr val="5A6472"/>
                </a:solidFill>
                <a:latin typeface="Calibri"/>
                <a:ea typeface="Calibri"/>
                <a:cs typeface="Calibri"/>
                <a:sym typeface="Calibri"/>
              </a:rPr>
              <a:t>raktisch kein linearer Zusammenhang.</a:t>
            </a:r>
            <a:endParaRPr b="0" i="0" sz="1700" u="none" cap="none" strike="noStrike">
              <a:solidFill>
                <a:schemeClr val="dk1"/>
              </a:solidFill>
              <a:latin typeface="Calibri"/>
              <a:ea typeface="Calibri"/>
              <a:cs typeface="Calibri"/>
              <a:sym typeface="Calibri"/>
            </a:endParaRPr>
          </a:p>
        </p:txBody>
      </p:sp>
      <p:sp>
        <p:nvSpPr>
          <p:cNvPr id="66" name="Google Shape;66;p3"/>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000"/>
              <a:buFont typeface="Calibri"/>
              <a:buNone/>
            </a:pPr>
            <a:r>
              <a:rPr b="0" i="0" lang="en-US" sz="1000" u="none" cap="none" strike="noStrike">
                <a:solidFill>
                  <a:srgbClr val="5A6472"/>
                </a:solidFill>
                <a:latin typeface="Calibri"/>
                <a:ea typeface="Calibri"/>
                <a:cs typeface="Calibri"/>
                <a:sym typeface="Calibri"/>
              </a:rPr>
              <a:t>Eniac Rabattstrategie  |  Data-Analytics-Department</a:t>
            </a:r>
            <a:endParaRPr b="0" i="0" sz="1000" u="none" cap="none" strike="noStrike">
              <a:solidFill>
                <a:schemeClr val="dk1"/>
              </a:solidFill>
              <a:latin typeface="Calibri"/>
              <a:ea typeface="Calibri"/>
              <a:cs typeface="Calibri"/>
              <a:sym typeface="Calibri"/>
            </a:endParaRPr>
          </a:p>
        </p:txBody>
      </p:sp>
      <p:sp>
        <p:nvSpPr>
          <p:cNvPr id="67" name="Google Shape;67;p3"/>
          <p:cNvSpPr/>
          <p:nvPr/>
        </p:nvSpPr>
        <p:spPr>
          <a:xfrm>
            <a:off x="11277295"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472"/>
              </a:buClr>
              <a:buSzPts val="1000"/>
              <a:buFont typeface="Calibri"/>
              <a:buNone/>
            </a:pPr>
            <a:r>
              <a:rPr b="0" i="0" lang="en-US" sz="1000" u="none" cap="none" strike="noStrike">
                <a:solidFill>
                  <a:srgbClr val="5A6472"/>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68" name="Rounded Rectangle 67"/>
          <p:cNvSpPr/>
          <p:nvPr/>
        </p:nvSpPr>
        <p:spPr>
          <a:xfrm>
            <a:off x="9028025" y="4450000"/>
            <a:ext cx="2539200" cy="18500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200">
                <a:solidFill>
                  <a:srgbClr val="FFFFFF"/>
                </a:solidFill>
                <a:latin typeface="Calibri"/>
              </a:rPr>
              <a:t>Empfehlung: Rabatttiefe nicht als Wachstumshebel nutzen — der Zusammenhang zur Absatzmenge ist mit diesen Daten nicht belegbar.</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4"/>
          <p:cNvSpPr/>
          <p:nvPr/>
        </p:nvSpPr>
        <p:spPr>
          <a:xfrm>
            <a:off x="548640" y="225460"/>
            <a:ext cx="8686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mbria"/>
              <a:buNone/>
            </a:pPr>
            <a:r>
              <a:rPr b="1" lang="en-US" sz="2800">
                <a:solidFill>
                  <a:srgbClr val="1E2761"/>
                </a:solidFill>
                <a:latin typeface="Cambria"/>
                <a:ea typeface="Cambria"/>
                <a:cs typeface="Cambria"/>
                <a:sym typeface="Cambria"/>
              </a:rPr>
              <a:t>T</a:t>
            </a:r>
            <a:r>
              <a:rPr b="1" i="0" lang="en-US" sz="2800" u="none" cap="none" strike="noStrike">
                <a:solidFill>
                  <a:srgbClr val="1E2761"/>
                </a:solidFill>
                <a:latin typeface="Cambria"/>
                <a:ea typeface="Cambria"/>
                <a:cs typeface="Cambria"/>
                <a:sym typeface="Cambria"/>
              </a:rPr>
              <a:t>hese im Test</a:t>
            </a:r>
            <a:endParaRPr b="0" i="0" sz="2800" u="none" cap="none" strike="noStrike">
              <a:solidFill>
                <a:schemeClr val="dk1"/>
              </a:solidFill>
              <a:latin typeface="Calibri"/>
              <a:ea typeface="Calibri"/>
              <a:cs typeface="Calibri"/>
              <a:sym typeface="Calibri"/>
            </a:endParaRPr>
          </a:p>
        </p:txBody>
      </p:sp>
      <p:sp>
        <p:nvSpPr>
          <p:cNvPr id="74" name="Google Shape;74;p4"/>
          <p:cNvSpPr/>
          <p:nvPr/>
        </p:nvSpPr>
        <p:spPr>
          <a:xfrm>
            <a:off x="548650" y="789300"/>
            <a:ext cx="10972800" cy="88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300"/>
              <a:buFont typeface="Calibri"/>
              <a:buNone/>
            </a:pPr>
            <a:r>
              <a:rPr b="0" i="0" lang="en-US" sz="1800" u="none" cap="none" strike="noStrike">
                <a:solidFill>
                  <a:srgbClr val="5A6472"/>
                </a:solidFill>
                <a:latin typeface="Calibri"/>
                <a:ea typeface="Calibri"/>
                <a:cs typeface="Calibri"/>
                <a:sym typeface="Calibri"/>
              </a:rPr>
              <a:t>„Auftragseingänge steigen, Gesamtumsatz sinkt“ </a:t>
            </a:r>
            <a:endParaRPr b="0" i="0" sz="1800" u="none" cap="none" strike="noStrike">
              <a:solidFill>
                <a:srgbClr val="5A6472"/>
              </a:solidFill>
              <a:latin typeface="Calibri"/>
              <a:ea typeface="Calibri"/>
              <a:cs typeface="Calibri"/>
              <a:sym typeface="Calibri"/>
            </a:endParaRPr>
          </a:p>
          <a:p>
            <a:pPr indent="0" lvl="0" marL="0" marR="0" rtl="0" algn="l">
              <a:lnSpc>
                <a:spcPct val="100000"/>
              </a:lnSpc>
              <a:spcBef>
                <a:spcPts val="0"/>
              </a:spcBef>
              <a:spcAft>
                <a:spcPts val="0"/>
              </a:spcAft>
              <a:buClr>
                <a:srgbClr val="5A6472"/>
              </a:buClr>
              <a:buSzPts val="1300"/>
              <a:buFont typeface="Calibri"/>
              <a:buNone/>
            </a:pPr>
            <a:r>
              <a:t/>
            </a:r>
            <a:endParaRPr sz="1800">
              <a:solidFill>
                <a:srgbClr val="5A6472"/>
              </a:solidFill>
              <a:latin typeface="Calibri"/>
              <a:ea typeface="Calibri"/>
              <a:cs typeface="Calibri"/>
              <a:sym typeface="Calibri"/>
            </a:endParaRPr>
          </a:p>
          <a:p>
            <a:pPr indent="0" lvl="0" marL="0" marR="0" rtl="0" algn="ctr">
              <a:lnSpc>
                <a:spcPct val="100000"/>
              </a:lnSpc>
              <a:spcBef>
                <a:spcPts val="0"/>
              </a:spcBef>
              <a:spcAft>
                <a:spcPts val="0"/>
              </a:spcAft>
              <a:buClr>
                <a:srgbClr val="5A6472"/>
              </a:buClr>
              <a:buSzPts val="1300"/>
              <a:buFont typeface="Calibri"/>
              <a:buNone/>
            </a:pPr>
            <a:r>
              <a:rPr b="1" i="0" lang="en-US" sz="1800" u="none" cap="none" strike="noStrike">
                <a:solidFill>
                  <a:srgbClr val="5A6472"/>
                </a:solidFill>
                <a:latin typeface="Calibri"/>
                <a:ea typeface="Calibri"/>
                <a:cs typeface="Calibri"/>
                <a:sym typeface="Calibri"/>
              </a:rPr>
              <a:t>— Umsatz vs. Bestellanzahl im Zeitverlauf  </a:t>
            </a:r>
            <a:endParaRPr b="1" i="0" sz="1800" u="none" cap="none" strike="noStrike">
              <a:solidFill>
                <a:schemeClr val="dk1"/>
              </a:solidFill>
              <a:latin typeface="Calibri"/>
              <a:ea typeface="Calibri"/>
              <a:cs typeface="Calibri"/>
              <a:sym typeface="Calibri"/>
            </a:endParaRPr>
          </a:p>
        </p:txBody>
      </p:sp>
      <p:pic>
        <p:nvPicPr>
          <p:cNvPr descr="cell208.png" id="75" name="Google Shape;75;p4"/>
          <p:cNvPicPr preferRelativeResize="0"/>
          <p:nvPr/>
        </p:nvPicPr>
        <p:blipFill rotWithShape="1">
          <a:blip r:embed="rId3">
            <a:alphaModFix/>
          </a:blip>
          <a:srcRect b="0" l="0" r="0" t="0"/>
          <a:stretch/>
        </p:blipFill>
        <p:spPr>
          <a:xfrm>
            <a:off x="420800" y="1673089"/>
            <a:ext cx="11228502" cy="3462533"/>
          </a:xfrm>
          <a:prstGeom prst="rect">
            <a:avLst/>
          </a:prstGeom>
          <a:noFill/>
          <a:ln>
            <a:noFill/>
          </a:ln>
        </p:spPr>
      </p:pic>
      <p:sp>
        <p:nvSpPr>
          <p:cNvPr id="76" name="Google Shape;76;p4"/>
          <p:cNvSpPr/>
          <p:nvPr/>
        </p:nvSpPr>
        <p:spPr>
          <a:xfrm>
            <a:off x="548640" y="4617720"/>
            <a:ext cx="7589520" cy="9144"/>
          </a:xfrm>
          <a:prstGeom prst="rect">
            <a:avLst/>
          </a:prstGeom>
          <a:noFill/>
          <a:ln cap="flat" cmpd="sng" w="12700">
            <a:solidFill>
              <a:srgbClr val="E5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4"/>
          <p:cNvSpPr/>
          <p:nvPr/>
        </p:nvSpPr>
        <p:spPr>
          <a:xfrm>
            <a:off x="8549640" y="4754880"/>
            <a:ext cx="109728" cy="109728"/>
          </a:xfrm>
          <a:prstGeom prst="roundRect">
            <a:avLst>
              <a:gd fmla="val 50000" name="adj"/>
            </a:avLst>
          </a:prstGeom>
          <a:solidFill>
            <a:srgbClr val="1E27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
          <p:cNvSpPr/>
          <p:nvPr/>
        </p:nvSpPr>
        <p:spPr>
          <a:xfrm>
            <a:off x="160925" y="6446583"/>
            <a:ext cx="7315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000"/>
              <a:buFont typeface="Calibri"/>
              <a:buNone/>
            </a:pPr>
            <a:r>
              <a:rPr b="0" i="0" lang="en-US" sz="1000" u="none" cap="none" strike="noStrike">
                <a:solidFill>
                  <a:srgbClr val="5A6472"/>
                </a:solidFill>
                <a:latin typeface="Calibri"/>
                <a:ea typeface="Calibri"/>
                <a:cs typeface="Calibri"/>
                <a:sym typeface="Calibri"/>
              </a:rPr>
              <a:t>Eniac Rabattstrategie  |  Data-Analytics-Department</a:t>
            </a:r>
            <a:endParaRPr b="0" i="0" sz="1000" u="none" cap="none" strike="noStrike">
              <a:solidFill>
                <a:schemeClr val="dk1"/>
              </a:solidFill>
              <a:latin typeface="Calibri"/>
              <a:ea typeface="Calibri"/>
              <a:cs typeface="Calibri"/>
              <a:sym typeface="Calibri"/>
            </a:endParaRPr>
          </a:p>
        </p:txBody>
      </p:sp>
      <p:sp>
        <p:nvSpPr>
          <p:cNvPr id="79" name="Google Shape;79;p4"/>
          <p:cNvSpPr/>
          <p:nvPr/>
        </p:nvSpPr>
        <p:spPr>
          <a:xfrm>
            <a:off x="11277295"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472"/>
              </a:buClr>
              <a:buSzPts val="1000"/>
              <a:buFont typeface="Calibri"/>
              <a:buNone/>
            </a:pPr>
            <a:r>
              <a:rPr b="0" i="0" lang="en-US" sz="1000" u="none" cap="none" strike="noStrike">
                <a:solidFill>
                  <a:srgbClr val="5A6472"/>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80" name="Rounded Rectangle 79"/>
          <p:cNvSpPr/>
          <p:nvPr/>
        </p:nvSpPr>
        <p:spPr>
          <a:xfrm>
            <a:off x="548640" y="5285622"/>
            <a:ext cx="11064240" cy="7000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r>
              <a:rPr sz="1300">
                <a:solidFill>
                  <a:srgbClr val="FFFFFF"/>
                </a:solidFill>
                <a:latin typeface="Calibri"/>
              </a:rPr>
              <a:t>Umsatz und Bestellungen entwickeln sich synchron, nicht gegenläufig — die These vom stillen Umsatzverlust bestätigt sich auf Monatsebene nicht.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5"/>
          <p:cNvSpPr/>
          <p:nvPr/>
        </p:nvSpPr>
        <p:spPr>
          <a:xfrm>
            <a:off x="548640" y="365760"/>
            <a:ext cx="8686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Differenzierung nach Kategorie</a:t>
            </a:r>
            <a:endParaRPr b="0" i="0" sz="2800" u="none" cap="none" strike="noStrike">
              <a:solidFill>
                <a:schemeClr val="dk1"/>
              </a:solidFill>
              <a:latin typeface="Calibri"/>
              <a:ea typeface="Calibri"/>
              <a:cs typeface="Calibri"/>
              <a:sym typeface="Calibri"/>
            </a:endParaRPr>
          </a:p>
        </p:txBody>
      </p:sp>
      <p:sp>
        <p:nvSpPr>
          <p:cNvPr id="86" name="Google Shape;86;p5"/>
          <p:cNvSpPr/>
          <p:nvPr/>
        </p:nvSpPr>
        <p:spPr>
          <a:xfrm>
            <a:off x="548640" y="896112"/>
            <a:ext cx="10972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300"/>
              <a:buFont typeface="Calibri"/>
              <a:buNone/>
            </a:pPr>
            <a:r>
              <a:rPr b="0" i="0" lang="en-US" sz="1300" u="none" cap="none" strike="noStrike">
                <a:solidFill>
                  <a:srgbClr val="5A6472"/>
                </a:solidFill>
                <a:latin typeface="Calibri"/>
                <a:ea typeface="Calibri"/>
                <a:cs typeface="Calibri"/>
                <a:sym typeface="Calibri"/>
              </a:rPr>
              <a:t>Rabatttiefe: Kern-Hardware vs. Zubehör/Dienstleistung  </a:t>
            </a:r>
            <a:endParaRPr b="0" i="0" sz="1300" u="none" cap="none" strike="noStrike">
              <a:solidFill>
                <a:schemeClr val="dk1"/>
              </a:solidFill>
              <a:latin typeface="Calibri"/>
              <a:ea typeface="Calibri"/>
              <a:cs typeface="Calibri"/>
              <a:sym typeface="Calibri"/>
            </a:endParaRPr>
          </a:p>
        </p:txBody>
      </p:sp>
      <p:pic>
        <p:nvPicPr>
          <p:cNvPr descr="cell246_final.png" id="87" name="Google Shape;87;p5"/>
          <p:cNvPicPr preferRelativeResize="0"/>
          <p:nvPr/>
        </p:nvPicPr>
        <p:blipFill rotWithShape="1">
          <a:blip r:embed="rId3">
            <a:alphaModFix/>
          </a:blip>
          <a:srcRect b="0" l="0" r="0" t="0"/>
          <a:stretch/>
        </p:blipFill>
        <p:spPr>
          <a:xfrm>
            <a:off x="502927" y="1371600"/>
            <a:ext cx="10093801" cy="4714875"/>
          </a:xfrm>
          <a:prstGeom prst="rect">
            <a:avLst/>
          </a:prstGeom>
          <a:noFill/>
          <a:ln>
            <a:noFill/>
          </a:ln>
        </p:spPr>
      </p:pic>
      <p:sp>
        <p:nvSpPr>
          <p:cNvPr id="88" name="Google Shape;88;p5"/>
          <p:cNvSpPr/>
          <p:nvPr/>
        </p:nvSpPr>
        <p:spPr>
          <a:xfrm>
            <a:off x="7818120" y="5193792"/>
            <a:ext cx="370332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050"/>
              <a:buFont typeface="Calibri"/>
              <a:buNone/>
            </a:pPr>
            <a:r>
              <a:rPr b="0" i="0" lang="en-US" sz="1050" u="none" cap="none" strike="noStrike">
                <a:solidFill>
                  <a:srgbClr val="1E2761"/>
                </a:solidFill>
                <a:latin typeface="Calibri"/>
                <a:ea typeface="Calibri"/>
                <a:cs typeface="Calibri"/>
                <a:sym typeface="Calibri"/>
              </a:rPr>
              <a:t>Der Preiskampf findet nicht bei den Flaggschiffen statt, sondern im Zubehör-/Dienstleistungsbereich. Die Sorge, die Marke Apple werde „verramscht“, lässt sich anhand der eigenen Daten entkräften — ein Wettbewerbsvergleich fehlt allerdings.</a:t>
            </a:r>
            <a:endParaRPr b="0" i="0" sz="1050" u="none" cap="none" strike="noStrike">
              <a:solidFill>
                <a:schemeClr val="dk1"/>
              </a:solidFill>
              <a:latin typeface="Calibri"/>
              <a:ea typeface="Calibri"/>
              <a:cs typeface="Calibri"/>
              <a:sym typeface="Calibri"/>
            </a:endParaRPr>
          </a:p>
        </p:txBody>
      </p:sp>
      <p:sp>
        <p:nvSpPr>
          <p:cNvPr id="89" name="Google Shape;89;p5"/>
          <p:cNvSpPr/>
          <p:nvPr/>
        </p:nvSpPr>
        <p:spPr>
          <a:xfrm>
            <a:off x="457200" y="644652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472"/>
              </a:buClr>
              <a:buSzPts val="1000"/>
              <a:buFont typeface="Calibri"/>
              <a:buNone/>
            </a:pPr>
            <a:r>
              <a:rPr b="0" i="0" lang="en-US" sz="1000" u="none" cap="none" strike="noStrike">
                <a:solidFill>
                  <a:srgbClr val="5A6472"/>
                </a:solidFill>
                <a:latin typeface="Calibri"/>
                <a:ea typeface="Calibri"/>
                <a:cs typeface="Calibri"/>
                <a:sym typeface="Calibri"/>
              </a:rPr>
              <a:t>Eniac Rabattstrategie  |  Data-Analytics-Department</a:t>
            </a:r>
            <a:endParaRPr b="0" i="0" sz="1000" u="none" cap="none" strike="noStrike">
              <a:solidFill>
                <a:schemeClr val="dk1"/>
              </a:solidFill>
              <a:latin typeface="Calibri"/>
              <a:ea typeface="Calibri"/>
              <a:cs typeface="Calibri"/>
              <a:sym typeface="Calibri"/>
            </a:endParaRPr>
          </a:p>
        </p:txBody>
      </p:sp>
      <p:sp>
        <p:nvSpPr>
          <p:cNvPr id="90" name="Google Shape;90;p5"/>
          <p:cNvSpPr/>
          <p:nvPr/>
        </p:nvSpPr>
        <p:spPr>
          <a:xfrm>
            <a:off x="11277295"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472"/>
              </a:buClr>
              <a:buSzPts val="1000"/>
              <a:buFont typeface="Calibri"/>
              <a:buNone/>
            </a:pPr>
            <a:r>
              <a:rPr b="0" i="0" lang="en-US" sz="1000" u="none" cap="none" strike="noStrike">
                <a:solidFill>
                  <a:srgbClr val="5A6472"/>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95" name="Shape 95"/>
        <p:cNvGrpSpPr/>
        <p:nvPr/>
      </p:nvGrpSpPr>
      <p:grpSpPr>
        <a:xfrm>
          <a:off x="0" y="0"/>
          <a:ext cx="0" cy="0"/>
          <a:chOff x="0" y="0"/>
          <a:chExt cx="0" cy="0"/>
        </a:xfrm>
      </p:grpSpPr>
      <p:sp>
        <p:nvSpPr>
          <p:cNvPr id="96" name="Google Shape;96;p6"/>
          <p:cNvSpPr/>
          <p:nvPr/>
        </p:nvSpPr>
        <p:spPr>
          <a:xfrm>
            <a:off x="640080" y="457200"/>
            <a:ext cx="10515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Entscheidungsgrundlage für den CEO</a:t>
            </a:r>
            <a:endParaRPr b="0" i="0" sz="2800" u="none" cap="none" strike="noStrike">
              <a:solidFill>
                <a:schemeClr val="dk1"/>
              </a:solidFill>
              <a:latin typeface="Calibri"/>
              <a:ea typeface="Calibri"/>
              <a:cs typeface="Calibri"/>
              <a:sym typeface="Calibri"/>
            </a:endParaRPr>
          </a:p>
        </p:txBody>
      </p:sp>
      <p:sp>
        <p:nvSpPr>
          <p:cNvPr id="97" name="Google Shape;97;p6"/>
          <p:cNvSpPr/>
          <p:nvPr/>
        </p:nvSpPr>
        <p:spPr>
          <a:xfrm>
            <a:off x="640080" y="960120"/>
            <a:ext cx="10515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Zusammenfassung  ·  Abschnitt 10</a:t>
            </a:r>
            <a:endParaRPr b="0" i="0" sz="1300" u="none" cap="none" strike="noStrike">
              <a:solidFill>
                <a:schemeClr val="dk1"/>
              </a:solidFill>
              <a:latin typeface="Calibri"/>
              <a:ea typeface="Calibri"/>
              <a:cs typeface="Calibri"/>
              <a:sym typeface="Calibri"/>
            </a:endParaRPr>
          </a:p>
        </p:txBody>
      </p:sp>
      <p:graphicFrame>
        <p:nvGraphicFramePr>
          <p:cNvPr id="98" name="Google Shape;98;p6"/>
          <p:cNvGraphicFramePr/>
          <p:nvPr/>
        </p:nvGraphicFramePr>
        <p:xfrm>
          <a:off x="640080" y="1417320"/>
          <a:ext cx="3000000" cy="3000000"/>
        </p:xfrm>
        <a:graphic>
          <a:graphicData uri="http://schemas.openxmlformats.org/drawingml/2006/table">
            <a:tbl>
              <a:tblPr>
                <a:noFill/>
                <a:tableStyleId>{B9389F63-6314-430D-8DE6-E588B45398A3}</a:tableStyleId>
              </a:tblPr>
              <a:tblGrid>
                <a:gridCol w="3108950"/>
                <a:gridCol w="7772400"/>
              </a:tblGrid>
              <a:tr h="493775">
                <a:tc>
                  <a:txBody>
                    <a:bodyPr/>
                    <a:lstStyle/>
                    <a:p>
                      <a:pPr indent="0" lvl="0" marL="0" marR="0" rtl="0" algn="l">
                        <a:lnSpc>
                          <a:spcPct val="100000"/>
                        </a:lnSpc>
                        <a:spcBef>
                          <a:spcPts val="0"/>
                        </a:spcBef>
                        <a:spcAft>
                          <a:spcPts val="0"/>
                        </a:spcAft>
                        <a:buClr>
                          <a:srgbClr val="1E2761"/>
                        </a:buClr>
                        <a:buSzPts val="1200"/>
                        <a:buFont typeface="Calibri"/>
                        <a:buNone/>
                      </a:pPr>
                      <a:r>
                        <a:rPr b="1" lang="en-US" sz="1200" u="none" cap="none" strike="noStrike">
                          <a:solidFill>
                            <a:srgbClr val="1E2761"/>
                          </a:solidFill>
                          <a:latin typeface="Calibri"/>
                          <a:ea typeface="Calibri"/>
                          <a:cs typeface="Calibri"/>
                          <a:sym typeface="Calibri"/>
                        </a:rPr>
                        <a:t>Frage</a:t>
                      </a:r>
                      <a:endParaRPr sz="1200" u="none" cap="none" strike="noStrike">
                        <a:latin typeface="Calibri"/>
                        <a:ea typeface="Calibri"/>
                        <a:cs typeface="Calibri"/>
                        <a:sym typeface="Calibri"/>
                      </a:endParaRPr>
                    </a:p>
                  </a:txBody>
                  <a:tcPr marT="45725" marB="45725" marR="91450" marL="91450">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CADCFC"/>
                    </a:solidFill>
                  </a:tcPr>
                </a:tc>
                <a:tc>
                  <a:txBody>
                    <a:bodyPr/>
                    <a:lstStyle/>
                    <a:p>
                      <a:pPr indent="0" lvl="0" marL="0" marR="0" rtl="0" algn="l">
                        <a:lnSpc>
                          <a:spcPct val="100000"/>
                        </a:lnSpc>
                        <a:spcBef>
                          <a:spcPts val="0"/>
                        </a:spcBef>
                        <a:spcAft>
                          <a:spcPts val="0"/>
                        </a:spcAft>
                        <a:buClr>
                          <a:srgbClr val="1E2761"/>
                        </a:buClr>
                        <a:buSzPts val="1200"/>
                        <a:buFont typeface="Calibri"/>
                        <a:buNone/>
                      </a:pPr>
                      <a:r>
                        <a:rPr b="1" lang="en-US" sz="1200" u="none" cap="none" strike="noStrike">
                          <a:solidFill>
                            <a:srgbClr val="1E2761"/>
                          </a:solidFill>
                          <a:latin typeface="Calibri"/>
                          <a:ea typeface="Calibri"/>
                          <a:cs typeface="Calibri"/>
                          <a:sym typeface="Calibri"/>
                        </a:rPr>
                        <a:t>Ergebnis</a:t>
                      </a:r>
                      <a:endParaRPr sz="1200" u="none" cap="none" strike="noStrike">
                        <a:latin typeface="Calibri"/>
                        <a:ea typeface="Calibri"/>
                        <a:cs typeface="Calibri"/>
                        <a:sym typeface="Calibri"/>
                      </a:endParaRPr>
                    </a:p>
                  </a:txBody>
                  <a:tcPr marT="45725" marB="45725" marR="91450" marL="91450">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CADCFC"/>
                    </a:solidFill>
                  </a:tcPr>
                </a:tc>
              </a:tr>
              <a:tr h="493775">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Umsatz steigt mit Rabatt?</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Nein. Korrelation Rabatt ↔ Menge = 0,01. Umsatz &amp; Bestellanzahl fallen mit steigender Rabattstufe (8.3).</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r>
              <a:tr h="493775">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Anteil rabattierter Produkte</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93,1 % der Bestellpositionen — Rabatt ist Standard, keine Ausnahme (8.9).</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r>
              <a:tr h="493775">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Kategorien mit stärkstem Rabatt</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Kern-Hardware eng/kontrolliert rabattiert; Zubehör/Dienstleistung breiter &amp; höher (8.4/8.4.1).</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r>
              <a:tr h="493775">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Ø Bestellwert</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Jan 2017 ~232 € → Jan 2018 ~378 € (+63 %). Ursache nicht eindeutig trennbar (5.3).</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r>
            </a:tbl>
          </a:graphicData>
        </a:graphic>
      </p:graphicFrame>
      <p:sp>
        <p:nvSpPr>
          <p:cNvPr id="99" name="Google Shape;99;p6"/>
          <p:cNvSpPr/>
          <p:nvPr/>
        </p:nvSpPr>
        <p:spPr>
          <a:xfrm>
            <a:off x="640018" y="3886200"/>
            <a:ext cx="10881300" cy="1234500"/>
          </a:xfrm>
          <a:prstGeom prst="roundRect">
            <a:avLst>
              <a:gd fmla="val 5185" name="adj"/>
            </a:avLst>
          </a:prstGeom>
          <a:solidFill>
            <a:srgbClr val="2734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6"/>
          <p:cNvSpPr/>
          <p:nvPr/>
        </p:nvSpPr>
        <p:spPr>
          <a:xfrm>
            <a:off x="868680" y="4023378"/>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Empfehlung</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640025" y="4434750"/>
            <a:ext cx="10424100" cy="620000"/>
          </a:xfrm>
          <a:prstGeom prst="rect">
            <a:avLst/>
          </a:prstGeom>
          <a:noFill/>
          <a:ln>
            <a:noFill/>
          </a:ln>
        </p:spPr>
        <p:txBody>
          <a:bodyPr anchorCtr="0" anchor="ctr" bIns="0" lIns="0" spcFirstLastPara="1" rIns="0" wrap="square" tIns="0">
            <a:noAutofit/>
          </a:bodyPr>
          <a:lstStyle/>
          <a:p>
            <a:pPr indent="-317500" lvl="0" marL="457200" marR="0" rtl="0" algn="l">
              <a:lnSpc>
                <a:spcPct val="125000"/>
              </a:lnSpc>
              <a:spcBef>
                <a:spcPts val="0"/>
              </a:spcBef>
              <a:spcAft>
                <a:spcPts val="0"/>
              </a:spcAft>
              <a:buClr>
                <a:schemeClr val="lt1"/>
              </a:buClr>
              <a:buSzPts val="1400"/>
              <a:buFont typeface="Arial"/>
              <a:buChar char="●"/>
            </a:pPr>
            <a:r>
              <a:rPr b="0" i="0" lang="en-US" sz="1300" u="none" cap="none" strike="noStrike">
                <a:solidFill>
                  <a:srgbClr val="FFFFFF"/>
                </a:solidFill>
                <a:latin typeface="Calibri"/>
                <a:ea typeface="Calibri"/>
                <a:cs typeface="Calibri"/>
                <a:sym typeface="Calibri"/>
              </a:rPr>
              <a:t>Eine abschließende Antwort auf die Forschungsfrage ist mit den vorliegenden Daten nicht möglich. Detaillierte Handlungsempfehlungen je Abteilung siehe Anhang (Folie 7).</a:t>
            </a:r>
            <a:endParaRPr b="0" i="0" sz="1100" u="none" cap="none" strike="noStrike">
              <a:solidFill>
                <a:schemeClr val="lt1"/>
              </a:solidFill>
              <a:latin typeface="Arial"/>
              <a:ea typeface="Arial"/>
              <a:cs typeface="Arial"/>
              <a:sym typeface="Arial"/>
            </a:endParaRPr>
          </a:p>
        </p:txBody>
      </p:sp>
      <p:sp>
        <p:nvSpPr>
          <p:cNvPr id="102" name="Google Shape;102;p6"/>
          <p:cNvSpPr/>
          <p:nvPr/>
        </p:nvSpPr>
        <p:spPr>
          <a:xfrm>
            <a:off x="180875" y="5986275"/>
            <a:ext cx="11569200" cy="680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AAAD6"/>
              </a:buClr>
              <a:buSzPts val="1050"/>
              <a:buFont typeface="Calibri"/>
              <a:buNone/>
            </a:pPr>
            <a:r>
              <a:rPr b="0" i="1" lang="en-US" sz="1250" u="none" cap="none" strike="noStrike">
                <a:solidFill>
                  <a:srgbClr val="9AAAD6"/>
                </a:solidFill>
                <a:latin typeface="Calibri"/>
                <a:ea typeface="Calibri"/>
                <a:cs typeface="Calibri"/>
                <a:sym typeface="Calibri"/>
              </a:rPr>
              <a:t>Limitationen: </a:t>
            </a:r>
            <a:endParaRPr b="0" i="1" sz="1250" u="none" cap="none" strike="noStrike">
              <a:solidFill>
                <a:srgbClr val="9AAAD6"/>
              </a:solidFill>
              <a:latin typeface="Calibri"/>
              <a:ea typeface="Calibri"/>
              <a:cs typeface="Calibri"/>
              <a:sym typeface="Calibri"/>
            </a:endParaRPr>
          </a:p>
          <a:p>
            <a:pPr indent="0" lvl="0" marL="0" marR="0" rtl="0" algn="l">
              <a:lnSpc>
                <a:spcPct val="120000"/>
              </a:lnSpc>
              <a:spcBef>
                <a:spcPts val="0"/>
              </a:spcBef>
              <a:spcAft>
                <a:spcPts val="0"/>
              </a:spcAft>
              <a:buClr>
                <a:srgbClr val="9AAAD6"/>
              </a:buClr>
              <a:buSzPts val="1050"/>
              <a:buFont typeface="Calibri"/>
              <a:buNone/>
            </a:pPr>
            <a:r>
              <a:rPr b="0" i="1" lang="en-US" sz="1250" u="none" cap="none" strike="noStrike">
                <a:solidFill>
                  <a:srgbClr val="9AAAD6"/>
                </a:solidFill>
                <a:latin typeface="Calibri"/>
                <a:ea typeface="Calibri"/>
                <a:cs typeface="Calibri"/>
                <a:sym typeface="Calibri"/>
              </a:rPr>
              <a:t>keine Kostendaten (Marge nicht berechenbar) · kein Wettbewerbsvergleich · 2018 nur bis 14.03. · keine Kunden-ID (keine Berechnung zu Wiederkauf/Kundenbindung möglich)</a:t>
            </a:r>
            <a:endParaRPr b="0" i="0" sz="1250" u="none" cap="none" strike="noStrike">
              <a:solidFill>
                <a:schemeClr val="dk1"/>
              </a:solidFill>
              <a:latin typeface="Calibri"/>
              <a:ea typeface="Calibri"/>
              <a:cs typeface="Calibri"/>
              <a:sym typeface="Calibri"/>
            </a:endParaRPr>
          </a:p>
        </p:txBody>
      </p:sp>
      <p:sp>
        <p:nvSpPr>
          <p:cNvPr id="103" name="Google Shape;103;p6"/>
          <p:cNvSpPr/>
          <p:nvPr/>
        </p:nvSpPr>
        <p:spPr>
          <a:xfrm>
            <a:off x="11277295" y="644652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C9BD6"/>
              </a:buClr>
              <a:buSzPts val="1000"/>
              <a:buFont typeface="Calibri"/>
              <a:buNone/>
            </a:pPr>
            <a:r>
              <a:rPr b="0" i="0" lang="en-US" sz="1000" u="none" cap="none" strike="noStrike">
                <a:solidFill>
                  <a:srgbClr val="8C9BD6"/>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08" name="Shape 108"/>
        <p:cNvGrpSpPr/>
        <p:nvPr/>
      </p:nvGrpSpPr>
      <p:grpSpPr>
        <a:xfrm>
          <a:off x="0" y="0"/>
          <a:ext cx="0" cy="0"/>
          <a:chOff x="0" y="0"/>
          <a:chExt cx="0" cy="0"/>
        </a:xfrm>
      </p:grpSpPr>
      <p:sp>
        <p:nvSpPr>
          <p:cNvPr id="109" name="Google Shape;109;g3f4fd8f115b_0_0"/>
          <p:cNvSpPr/>
          <p:nvPr/>
        </p:nvSpPr>
        <p:spPr>
          <a:xfrm>
            <a:off x="640080" y="291400"/>
            <a:ext cx="10515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Anhang: Entscheidungsgrundlage für den CEO</a:t>
            </a:r>
            <a:endParaRPr b="0" i="0" sz="2800" u="none" cap="none" strike="noStrike">
              <a:solidFill>
                <a:schemeClr val="dk1"/>
              </a:solidFill>
              <a:latin typeface="Calibri"/>
              <a:ea typeface="Calibri"/>
              <a:cs typeface="Calibri"/>
              <a:sym typeface="Calibri"/>
            </a:endParaRPr>
          </a:p>
        </p:txBody>
      </p:sp>
      <p:sp>
        <p:nvSpPr>
          <p:cNvPr id="110" name="Google Shape;110;g3f4fd8f115b_0_0"/>
          <p:cNvSpPr/>
          <p:nvPr/>
        </p:nvSpPr>
        <p:spPr>
          <a:xfrm>
            <a:off x="640075" y="840102"/>
            <a:ext cx="10515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Vorgeschlagene Maßnahmen im Detail:</a:t>
            </a:r>
            <a:endParaRPr b="0" i="0" sz="1300" u="none" cap="none" strike="noStrike">
              <a:solidFill>
                <a:srgbClr val="CADCFC"/>
              </a:solidFill>
              <a:latin typeface="Calibri"/>
              <a:ea typeface="Calibri"/>
              <a:cs typeface="Calibri"/>
              <a:sym typeface="Calibri"/>
            </a:endParaRPr>
          </a:p>
          <a:p>
            <a:pPr indent="0" lvl="0" marL="0" marR="0" rtl="0" algn="l">
              <a:lnSpc>
                <a:spcPct val="100000"/>
              </a:lnSpc>
              <a:spcBef>
                <a:spcPts val="0"/>
              </a:spcBef>
              <a:spcAft>
                <a:spcPts val="0"/>
              </a:spcAft>
              <a:buClr>
                <a:srgbClr val="CADCFC"/>
              </a:buClr>
              <a:buSzPts val="1100"/>
              <a:buFont typeface="Calibri"/>
              <a:buNone/>
            </a:pPr>
            <a:r>
              <a:t/>
            </a:r>
            <a:endParaRPr b="0" i="0" sz="1300" u="none" cap="none" strike="noStrike">
              <a:solidFill>
                <a:srgbClr val="CADCFC"/>
              </a:solidFill>
              <a:latin typeface="Calibri"/>
              <a:ea typeface="Calibri"/>
              <a:cs typeface="Calibri"/>
              <a:sym typeface="Calibri"/>
            </a:endParaRPr>
          </a:p>
        </p:txBody>
      </p:sp>
      <p:graphicFrame>
        <p:nvGraphicFramePr>
          <p:cNvPr id="111" name="Google Shape;111;g3f4fd8f115b_0_0"/>
          <p:cNvGraphicFramePr/>
          <p:nvPr/>
        </p:nvGraphicFramePr>
        <p:xfrm>
          <a:off x="655330" y="1191245"/>
          <a:ext cx="3000000" cy="3000000"/>
        </p:xfrm>
        <a:graphic>
          <a:graphicData uri="http://schemas.openxmlformats.org/drawingml/2006/table">
            <a:tbl>
              <a:tblPr>
                <a:noFill/>
                <a:tableStyleId>{B9389F63-6314-430D-8DE6-E588B45398A3}</a:tableStyleId>
              </a:tblPr>
              <a:tblGrid>
                <a:gridCol w="3108950"/>
                <a:gridCol w="7772400"/>
              </a:tblGrid>
              <a:tr h="566825">
                <a:tc>
                  <a:txBody>
                    <a:bodyPr/>
                    <a:lstStyle/>
                    <a:p>
                      <a:pPr indent="0" lvl="0" marL="0" marR="0" rtl="0" algn="l">
                        <a:lnSpc>
                          <a:spcPct val="100000"/>
                        </a:lnSpc>
                        <a:spcBef>
                          <a:spcPts val="0"/>
                        </a:spcBef>
                        <a:spcAft>
                          <a:spcPts val="0"/>
                        </a:spcAft>
                        <a:buClr>
                          <a:srgbClr val="1E2761"/>
                        </a:buClr>
                        <a:buSzPts val="1200"/>
                        <a:buFont typeface="Calibri"/>
                        <a:buNone/>
                      </a:pPr>
                      <a:r>
                        <a:rPr b="1" lang="en-US" sz="1200" u="none" cap="none" strike="noStrike">
                          <a:solidFill>
                            <a:srgbClr val="1E2761"/>
                          </a:solidFill>
                          <a:latin typeface="Calibri"/>
                          <a:ea typeface="Calibri"/>
                          <a:cs typeface="Calibri"/>
                          <a:sym typeface="Calibri"/>
                        </a:rPr>
                        <a:t>Abteilung</a:t>
                      </a:r>
                      <a:endParaRPr sz="1200" u="none" cap="none" strike="noStrike">
                        <a:latin typeface="Calibri"/>
                        <a:ea typeface="Calibri"/>
                        <a:cs typeface="Calibri"/>
                        <a:sym typeface="Calibri"/>
                      </a:endParaRPr>
                    </a:p>
                  </a:txBody>
                  <a:tcPr marT="45725" marB="45725" marR="91450" marL="91450">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CADCFC"/>
                    </a:solidFill>
                  </a:tcPr>
                </a:tc>
                <a:tc>
                  <a:txBody>
                    <a:bodyPr/>
                    <a:lstStyle/>
                    <a:p>
                      <a:pPr indent="0" lvl="0" marL="0" marR="0" rtl="0" algn="l">
                        <a:lnSpc>
                          <a:spcPct val="100000"/>
                        </a:lnSpc>
                        <a:spcBef>
                          <a:spcPts val="0"/>
                        </a:spcBef>
                        <a:spcAft>
                          <a:spcPts val="0"/>
                        </a:spcAft>
                        <a:buClr>
                          <a:srgbClr val="1E2761"/>
                        </a:buClr>
                        <a:buSzPts val="1200"/>
                        <a:buFont typeface="Calibri"/>
                        <a:buNone/>
                      </a:pPr>
                      <a:r>
                        <a:rPr b="1" lang="en-US" sz="1200" u="none" cap="none" strike="noStrike">
                          <a:solidFill>
                            <a:srgbClr val="1E2761"/>
                          </a:solidFill>
                          <a:latin typeface="Calibri"/>
                          <a:ea typeface="Calibri"/>
                          <a:cs typeface="Calibri"/>
                          <a:sym typeface="Calibri"/>
                        </a:rPr>
                        <a:t>Maßnahme</a:t>
                      </a:r>
                      <a:endParaRPr sz="1200" u="none" cap="none" strike="noStrike">
                        <a:latin typeface="Calibri"/>
                        <a:ea typeface="Calibri"/>
                        <a:cs typeface="Calibri"/>
                        <a:sym typeface="Calibri"/>
                      </a:endParaRPr>
                    </a:p>
                  </a:txBody>
                  <a:tcPr marT="45725" marB="45725" marR="91450" marL="91450">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CADCFC"/>
                    </a:solidFill>
                  </a:tcPr>
                </a:tc>
              </a:tr>
              <a:tr h="1644475">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Business Operation/ Sales</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c>
                  <a:txBody>
                    <a:bodyPr/>
                    <a:lstStyle/>
                    <a:p>
                      <a:pPr indent="-298450" lvl="0" marL="457200" marR="0" rtl="0" algn="l">
                        <a:lnSpc>
                          <a:spcPct val="100000"/>
                        </a:lnSpc>
                        <a:spcBef>
                          <a:spcPts val="0"/>
                        </a:spcBef>
                        <a:spcAft>
                          <a:spcPts val="0"/>
                        </a:spcAft>
                        <a:buClr>
                          <a:schemeClr val="lt1"/>
                        </a:buClr>
                        <a:buSzPts val="1100"/>
                        <a:buFont typeface="Arial"/>
                        <a:buChar char="●"/>
                      </a:pPr>
                      <a:r>
                        <a:rPr b="1" lang="en-US" sz="1100" u="none" cap="none" strike="noStrike">
                          <a:solidFill>
                            <a:srgbClr val="CADCFC"/>
                          </a:solidFill>
                          <a:latin typeface="Calibri"/>
                          <a:ea typeface="Calibri"/>
                          <a:cs typeface="Calibri"/>
                          <a:sym typeface="Calibri"/>
                        </a:rPr>
                        <a:t>Empfohlener nächster Schritt: Zugriff auf Einkaufspreise zur Berechnung des ROI je Rabattstufe, um die Debatte datenbasiert abzuschließen.</a:t>
                      </a:r>
                      <a:endParaRPr sz="1100" u="none" cap="none" strike="noStrike">
                        <a:solidFill>
                          <a:schemeClr val="lt1"/>
                        </a:solidFill>
                      </a:endParaRPr>
                    </a:p>
                    <a:p>
                      <a:pPr indent="-298450" lvl="0" marL="457200" marR="0" rtl="0" algn="l">
                        <a:lnSpc>
                          <a:spcPct val="100000"/>
                        </a:lnSpc>
                        <a:spcBef>
                          <a:spcPts val="0"/>
                        </a:spcBef>
                        <a:spcAft>
                          <a:spcPts val="0"/>
                        </a:spcAft>
                        <a:buClr>
                          <a:schemeClr val="lt1"/>
                        </a:buClr>
                        <a:buSzPts val="1100"/>
                        <a:buFont typeface="Arial"/>
                        <a:buChar char="●"/>
                      </a:pPr>
                      <a:r>
                        <a:rPr lang="en-US" sz="1100" u="none" cap="none" strike="noStrike">
                          <a:solidFill>
                            <a:schemeClr val="lt1"/>
                          </a:solidFill>
                        </a:rPr>
                        <a:t>Rabatt Gründe sollten dokumentiert werden, um den Erfolg verschiedener Rabattaktionen gezielt analysieren zu können.</a:t>
                      </a:r>
                      <a:endParaRPr sz="1100" u="none" cap="none" strike="noStrike">
                        <a:solidFill>
                          <a:schemeClr val="lt1"/>
                        </a:solidFill>
                      </a:endParaRPr>
                    </a:p>
                    <a:p>
                      <a:pPr indent="-298450" lvl="0" marL="457200" marR="0" rtl="0" algn="l">
                        <a:lnSpc>
                          <a:spcPct val="100000"/>
                        </a:lnSpc>
                        <a:spcBef>
                          <a:spcPts val="0"/>
                        </a:spcBef>
                        <a:spcAft>
                          <a:spcPts val="0"/>
                        </a:spcAft>
                        <a:buClr>
                          <a:schemeClr val="lt1"/>
                        </a:buClr>
                        <a:buSzPts val="1100"/>
                        <a:buFont typeface="Arial"/>
                        <a:buChar char="●"/>
                      </a:pPr>
                      <a:r>
                        <a:rPr lang="en-US" sz="1100" u="none" cap="none" strike="noStrike">
                          <a:solidFill>
                            <a:schemeClr val="lt1"/>
                          </a:solidFill>
                        </a:rPr>
                        <a:t>Wir empfehlen, die Rabatt Wirkung regelmäßig zu überprüfen und die Rabattstrategie anhand der Ergebnisse kontinuierlich anzupassen.</a:t>
                      </a:r>
                      <a:endParaRPr sz="1100" u="none" cap="none" strike="noStrike">
                        <a:solidFill>
                          <a:schemeClr val="lt1"/>
                        </a:solidFill>
                      </a:endParaRPr>
                    </a:p>
                    <a:p>
                      <a:pPr indent="-298450" lvl="0" marL="457200" marR="0" rtl="0" algn="l">
                        <a:lnSpc>
                          <a:spcPct val="100000"/>
                        </a:lnSpc>
                        <a:spcBef>
                          <a:spcPts val="0"/>
                        </a:spcBef>
                        <a:spcAft>
                          <a:spcPts val="0"/>
                        </a:spcAft>
                        <a:buClr>
                          <a:schemeClr val="lt1"/>
                        </a:buClr>
                        <a:buSzPts val="1100"/>
                        <a:buFont typeface="Arial"/>
                        <a:buChar char="●"/>
                      </a:pPr>
                      <a:r>
                        <a:rPr lang="en-US" sz="1100" u="none" cap="none" strike="noStrike">
                          <a:solidFill>
                            <a:schemeClr val="lt1"/>
                          </a:solidFill>
                        </a:rPr>
                        <a:t>Unsere Analysen zeigen, dass sich die Rabatt Wirkung je nach Produkt und Saison unterscheidet und hohe Rabatte nicht automatisch zu besseren Ergebnissen führen. Deshalb empfehlen wir ein intelligentes Rabatt Management-System, das Rabatte automatisch anhand von Produkttyp, Saison und Nachfrage vorschlägt.</a:t>
                      </a:r>
                      <a:endParaRPr sz="1100" u="none" cap="none" strike="noStrike">
                        <a:solidFill>
                          <a:schemeClr val="lt1"/>
                        </a:solidFill>
                      </a:endParaRPr>
                    </a:p>
                    <a:p>
                      <a:pPr indent="0" lvl="0" marL="457200" marR="0" rtl="0" algn="l">
                        <a:lnSpc>
                          <a:spcPct val="100000"/>
                        </a:lnSpc>
                        <a:spcBef>
                          <a:spcPts val="0"/>
                        </a:spcBef>
                        <a:spcAft>
                          <a:spcPts val="0"/>
                        </a:spcAft>
                        <a:buClr>
                          <a:srgbClr val="000000"/>
                        </a:buClr>
                        <a:buSzPts val="1100"/>
                        <a:buFont typeface="Arial"/>
                        <a:buNone/>
                      </a:pPr>
                      <a:r>
                        <a:t/>
                      </a:r>
                      <a:endParaRPr b="1" sz="1100" u="none" cap="none" strike="noStrike">
                        <a:solidFill>
                          <a:schemeClr val="lt1"/>
                        </a:solidFill>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r>
              <a:tr h="1264275">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rgbClr val="FFFFFF"/>
                          </a:solidFill>
                          <a:latin typeface="Calibri"/>
                          <a:ea typeface="Calibri"/>
                          <a:cs typeface="Calibri"/>
                          <a:sym typeface="Calibri"/>
                        </a:rPr>
                        <a:t>Marketing</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c>
                  <a:txBody>
                    <a:bodyPr/>
                    <a:lstStyle/>
                    <a:p>
                      <a:pPr indent="-298450" lvl="0" marL="457200" marR="0" rtl="0" algn="l">
                        <a:lnSpc>
                          <a:spcPct val="115000"/>
                        </a:lnSpc>
                        <a:spcBef>
                          <a:spcPts val="0"/>
                        </a:spcBef>
                        <a:spcAft>
                          <a:spcPts val="0"/>
                        </a:spcAft>
                        <a:buClr>
                          <a:schemeClr val="lt1"/>
                        </a:buClr>
                        <a:buSzPts val="1100"/>
                        <a:buFont typeface="Arial"/>
                        <a:buChar char="●"/>
                      </a:pPr>
                      <a:r>
                        <a:rPr lang="en-US" sz="1100" u="none" cap="none" strike="noStrike">
                          <a:solidFill>
                            <a:schemeClr val="lt1"/>
                          </a:solidFill>
                        </a:rPr>
                        <a:t>Einheitlich hohe Rabatte für alle Produkte sind nicht empfehlenswert.</a:t>
                      </a:r>
                      <a:endParaRPr sz="1100" u="none" cap="none" strike="noStrike">
                        <a:solidFill>
                          <a:schemeClr val="lt1"/>
                        </a:solidFill>
                      </a:endParaRPr>
                    </a:p>
                    <a:p>
                      <a:pPr indent="-298450" lvl="0" marL="457200" marR="0" rtl="0" algn="l">
                        <a:lnSpc>
                          <a:spcPct val="115000"/>
                        </a:lnSpc>
                        <a:spcBef>
                          <a:spcPts val="0"/>
                        </a:spcBef>
                        <a:spcAft>
                          <a:spcPts val="0"/>
                        </a:spcAft>
                        <a:buClr>
                          <a:schemeClr val="lt1"/>
                        </a:buClr>
                        <a:buSzPts val="1100"/>
                        <a:buFont typeface="Arial"/>
                        <a:buChar char="●"/>
                      </a:pPr>
                      <a:r>
                        <a:rPr lang="en-US" sz="1100" u="none" cap="none" strike="noStrike">
                          <a:solidFill>
                            <a:schemeClr val="lt1"/>
                          </a:solidFill>
                        </a:rPr>
                        <a:t>Rabattstrategie produkt- und saisonabhängig geplant werden.</a:t>
                      </a:r>
                      <a:endParaRPr sz="1100" u="none" cap="none" strike="noStrike">
                        <a:solidFill>
                          <a:schemeClr val="lt1"/>
                        </a:solidFill>
                      </a:endParaRPr>
                    </a:p>
                    <a:p>
                      <a:pPr indent="-298450" lvl="0" marL="457200" marR="0" rtl="0" algn="l">
                        <a:lnSpc>
                          <a:spcPct val="115000"/>
                        </a:lnSpc>
                        <a:spcBef>
                          <a:spcPts val="0"/>
                        </a:spcBef>
                        <a:spcAft>
                          <a:spcPts val="0"/>
                        </a:spcAft>
                        <a:buClr>
                          <a:schemeClr val="lt1"/>
                        </a:buClr>
                        <a:buSzPts val="1100"/>
                        <a:buFont typeface="Arial"/>
                        <a:buChar char="●"/>
                      </a:pPr>
                      <a:r>
                        <a:rPr lang="en-US" sz="1100" u="none" cap="none" strike="noStrike">
                          <a:solidFill>
                            <a:schemeClr val="lt1"/>
                          </a:solidFill>
                        </a:rPr>
                        <a:t>Rabatte sind ein wichtiger Bestandteil der Verkaufsstrategie von ENIAC.</a:t>
                      </a:r>
                      <a:endParaRPr sz="1100" u="none" cap="none" strike="noStrike">
                        <a:solidFill>
                          <a:schemeClr val="lt1"/>
                        </a:solidFill>
                      </a:endParaRPr>
                    </a:p>
                    <a:p>
                      <a:pPr indent="-298450" lvl="0" marL="457200" marR="0" rtl="0" algn="l">
                        <a:lnSpc>
                          <a:spcPct val="115000"/>
                        </a:lnSpc>
                        <a:spcBef>
                          <a:spcPts val="0"/>
                        </a:spcBef>
                        <a:spcAft>
                          <a:spcPts val="0"/>
                        </a:spcAft>
                        <a:buClr>
                          <a:schemeClr val="lt1"/>
                        </a:buClr>
                        <a:buSzPts val="1100"/>
                        <a:buFont typeface="Arial"/>
                        <a:buChar char="●"/>
                      </a:pPr>
                      <a:r>
                        <a:rPr lang="en-US" sz="1100" u="none" cap="none" strike="noStrike">
                          <a:solidFill>
                            <a:schemeClr val="lt1"/>
                          </a:solidFill>
                        </a:rPr>
                        <a:t>Informationen zu Marketingkampagnen und Kundensegmenten vorab an Daten-Team</a:t>
                      </a:r>
                      <a:endParaRPr sz="1100" u="none" cap="none" strike="noStrike">
                        <a:solidFill>
                          <a:schemeClr val="lt1"/>
                        </a:solidFill>
                      </a:endParaRPr>
                    </a:p>
                    <a:p>
                      <a:pPr indent="0" lvl="0" marL="0" marR="0" rtl="0" algn="l">
                        <a:lnSpc>
                          <a:spcPct val="100000"/>
                        </a:lnSpc>
                        <a:spcBef>
                          <a:spcPts val="500"/>
                        </a:spcBef>
                        <a:spcAft>
                          <a:spcPts val="0"/>
                        </a:spcAft>
                        <a:buClr>
                          <a:srgbClr val="000000"/>
                        </a:buClr>
                        <a:buSzPts val="1150"/>
                        <a:buFont typeface="Arial"/>
                        <a:buNone/>
                      </a:pPr>
                      <a:r>
                        <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r>
              <a:tr h="962200">
                <a:tc>
                  <a:txBody>
                    <a:bodyPr/>
                    <a:lstStyle/>
                    <a:p>
                      <a:pPr indent="0" lvl="0" marL="0" marR="0" rtl="0" algn="l">
                        <a:lnSpc>
                          <a:spcPct val="100000"/>
                        </a:lnSpc>
                        <a:spcBef>
                          <a:spcPts val="0"/>
                        </a:spcBef>
                        <a:spcAft>
                          <a:spcPts val="0"/>
                        </a:spcAft>
                        <a:buClr>
                          <a:srgbClr val="FFFFFF"/>
                        </a:buClr>
                        <a:buSzPts val="1150"/>
                        <a:buFont typeface="Calibri"/>
                        <a:buNone/>
                      </a:pPr>
                      <a:r>
                        <a:rPr lang="en-US" sz="1150" u="none" cap="none" strike="noStrike">
                          <a:solidFill>
                            <a:schemeClr val="lt1"/>
                          </a:solidFill>
                          <a:latin typeface="Calibri"/>
                          <a:ea typeface="Calibri"/>
                          <a:cs typeface="Calibri"/>
                          <a:sym typeface="Calibri"/>
                        </a:rPr>
                        <a:t>IT</a:t>
                      </a:r>
                      <a:endParaRPr sz="1150" u="none" cap="none" strike="noStrike">
                        <a:solidFill>
                          <a:schemeClr val="lt1"/>
                        </a:solidFill>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c>
                  <a:txBody>
                    <a:bodyPr/>
                    <a:lstStyle/>
                    <a:p>
                      <a:pPr indent="-301625" lvl="0" marL="457200" marR="0" rtl="0" algn="l">
                        <a:lnSpc>
                          <a:spcPct val="100000"/>
                        </a:lnSpc>
                        <a:spcBef>
                          <a:spcPts val="0"/>
                        </a:spcBef>
                        <a:spcAft>
                          <a:spcPts val="0"/>
                        </a:spcAft>
                        <a:buClr>
                          <a:schemeClr val="lt1"/>
                        </a:buClr>
                        <a:buSzPts val="1150"/>
                        <a:buFont typeface="Calibri"/>
                        <a:buChar char="●"/>
                      </a:pPr>
                      <a:r>
                        <a:rPr lang="en-US" sz="1150" u="none" cap="none" strike="noStrike">
                          <a:solidFill>
                            <a:schemeClr val="lt1"/>
                          </a:solidFill>
                          <a:latin typeface="Calibri"/>
                          <a:ea typeface="Calibri"/>
                          <a:cs typeface="Calibri"/>
                          <a:sym typeface="Calibri"/>
                        </a:rPr>
                        <a:t>Zusätzlich sollten Produktkosten, Gewinnmargen und Kundendaten erfasst werden, um die Wirtschaftlichkeit genauer </a:t>
                      </a:r>
                      <a:r>
                        <a:rPr lang="en-US" sz="1250" u="none" cap="none" strike="noStrike">
                          <a:solidFill>
                            <a:schemeClr val="lt1"/>
                          </a:solidFill>
                          <a:latin typeface="Calibri"/>
                          <a:ea typeface="Calibri"/>
                          <a:cs typeface="Calibri"/>
                          <a:sym typeface="Calibri"/>
                        </a:rPr>
                        <a:t>bewerten zu können.</a:t>
                      </a:r>
                      <a:endParaRPr sz="1250" u="none" cap="none" strike="noStrike">
                        <a:solidFill>
                          <a:schemeClr val="lt1"/>
                        </a:solidFill>
                        <a:latin typeface="Calibri"/>
                        <a:ea typeface="Calibri"/>
                        <a:cs typeface="Calibri"/>
                        <a:sym typeface="Calibri"/>
                      </a:endParaRPr>
                    </a:p>
                    <a:p>
                      <a:pPr indent="-307975" lvl="0" marL="457200" marR="0" rtl="0" algn="l">
                        <a:lnSpc>
                          <a:spcPct val="100000"/>
                        </a:lnSpc>
                        <a:spcBef>
                          <a:spcPts val="0"/>
                        </a:spcBef>
                        <a:spcAft>
                          <a:spcPts val="0"/>
                        </a:spcAft>
                        <a:buClr>
                          <a:schemeClr val="lt1"/>
                        </a:buClr>
                        <a:buSzPts val="1250"/>
                        <a:buFont typeface="Calibri"/>
                        <a:buChar char="●"/>
                      </a:pPr>
                      <a:r>
                        <a:rPr lang="en-US" sz="1250" u="none" cap="none" strike="noStrike">
                          <a:solidFill>
                            <a:schemeClr val="lt1"/>
                          </a:solidFill>
                          <a:latin typeface="Calibri"/>
                          <a:ea typeface="Calibri"/>
                          <a:cs typeface="Calibri"/>
                          <a:sym typeface="Calibri"/>
                        </a:rPr>
                        <a:t>Kunden ID und Kundenbewertungen  fehlt</a:t>
                      </a:r>
                      <a:endParaRPr sz="1250" u="none" cap="none" strike="noStrike">
                        <a:solidFill>
                          <a:schemeClr val="lt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250"/>
                        <a:buFont typeface="Arial"/>
                        <a:buNone/>
                      </a:pPr>
                      <a:r>
                        <a:t/>
                      </a:r>
                      <a:endParaRPr sz="1250" u="none" cap="none" strike="noStrike">
                        <a:solidFill>
                          <a:schemeClr val="lt1"/>
                        </a:solidFill>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r>
              <a:tr h="708525">
                <a:tc>
                  <a:txBody>
                    <a:bodyPr/>
                    <a:lstStyle/>
                    <a:p>
                      <a:pPr indent="0" lvl="0" marL="0" marR="0" rtl="0" algn="l">
                        <a:lnSpc>
                          <a:spcPct val="100000"/>
                        </a:lnSpc>
                        <a:spcBef>
                          <a:spcPts val="0"/>
                        </a:spcBef>
                        <a:spcAft>
                          <a:spcPts val="0"/>
                        </a:spcAft>
                        <a:buClr>
                          <a:schemeClr val="lt1"/>
                        </a:buClr>
                        <a:buSzPts val="1150"/>
                        <a:buFont typeface="Calibri"/>
                        <a:buNone/>
                      </a:pPr>
                      <a:r>
                        <a:rPr lang="en-US" sz="1150" u="none" cap="none" strike="noStrike">
                          <a:solidFill>
                            <a:schemeClr val="lt1"/>
                          </a:solidFill>
                          <a:latin typeface="Calibri"/>
                          <a:ea typeface="Calibri"/>
                          <a:cs typeface="Calibri"/>
                          <a:sym typeface="Calibri"/>
                        </a:rPr>
                        <a:t>Data-Team</a:t>
                      </a:r>
                      <a:endParaRPr sz="1150" u="none" cap="none" strike="noStrike">
                        <a:latin typeface="Calibri"/>
                        <a:ea typeface="Calibri"/>
                        <a:cs typeface="Calibri"/>
                        <a:sym typeface="Calibri"/>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c>
                  <a:txBody>
                    <a:bodyPr/>
                    <a:lstStyle/>
                    <a:p>
                      <a:pPr indent="-301625" lvl="0" marL="457200" marR="0" rtl="0" algn="l">
                        <a:lnSpc>
                          <a:spcPct val="100000"/>
                        </a:lnSpc>
                        <a:spcBef>
                          <a:spcPts val="0"/>
                        </a:spcBef>
                        <a:spcAft>
                          <a:spcPts val="0"/>
                        </a:spcAft>
                        <a:buClr>
                          <a:schemeClr val="lt1"/>
                        </a:buClr>
                        <a:buSzPts val="1150"/>
                        <a:buFont typeface="Calibri"/>
                        <a:buChar char="●"/>
                      </a:pPr>
                      <a:r>
                        <a:rPr lang="en-US" sz="1150" u="none" cap="none" strike="noStrike">
                          <a:solidFill>
                            <a:schemeClr val="lt1"/>
                          </a:solidFill>
                          <a:latin typeface="Calibri"/>
                          <a:ea typeface="Calibri"/>
                          <a:cs typeface="Calibri"/>
                          <a:sym typeface="Calibri"/>
                        </a:rPr>
                        <a:t>Break even Point berechnen</a:t>
                      </a:r>
                      <a:endParaRPr sz="1150" u="none" cap="none" strike="noStrike">
                        <a:solidFill>
                          <a:schemeClr val="lt1"/>
                        </a:solidFill>
                        <a:latin typeface="Calibri"/>
                        <a:ea typeface="Calibri"/>
                        <a:cs typeface="Calibri"/>
                        <a:sym typeface="Calibri"/>
                      </a:endParaRPr>
                    </a:p>
                    <a:p>
                      <a:pPr indent="-301625" lvl="0" marL="457200" marR="0" rtl="0" algn="l">
                        <a:lnSpc>
                          <a:spcPct val="100000"/>
                        </a:lnSpc>
                        <a:spcBef>
                          <a:spcPts val="0"/>
                        </a:spcBef>
                        <a:spcAft>
                          <a:spcPts val="0"/>
                        </a:spcAft>
                        <a:buClr>
                          <a:schemeClr val="lt1"/>
                        </a:buClr>
                        <a:buSzPts val="1150"/>
                        <a:buFont typeface="Calibri"/>
                        <a:buChar char="●"/>
                      </a:pPr>
                      <a:r>
                        <a:rPr lang="en-US" sz="1150" u="none" cap="none" strike="noStrike">
                          <a:solidFill>
                            <a:schemeClr val="lt1"/>
                          </a:solidFill>
                          <a:latin typeface="Calibri"/>
                          <a:ea typeface="Calibri"/>
                          <a:cs typeface="Calibri"/>
                          <a:sym typeface="Calibri"/>
                        </a:rPr>
                        <a:t>Range mögliche Rabatthöhe</a:t>
                      </a:r>
                      <a:endParaRPr sz="1150" u="none" cap="none" strike="noStrike">
                        <a:solidFill>
                          <a:schemeClr val="lt1"/>
                        </a:solidFill>
                        <a:latin typeface="Calibri"/>
                        <a:ea typeface="Calibri"/>
                        <a:cs typeface="Calibri"/>
                        <a:sym typeface="Calibri"/>
                      </a:endParaRPr>
                    </a:p>
                    <a:p>
                      <a:pPr indent="-301625" lvl="0" marL="457200" marR="0" rtl="0" algn="l">
                        <a:lnSpc>
                          <a:spcPct val="100000"/>
                        </a:lnSpc>
                        <a:spcBef>
                          <a:spcPts val="0"/>
                        </a:spcBef>
                        <a:spcAft>
                          <a:spcPts val="0"/>
                        </a:spcAft>
                        <a:buClr>
                          <a:schemeClr val="lt1"/>
                        </a:buClr>
                        <a:buSzPts val="1150"/>
                        <a:buFont typeface="Calibri"/>
                        <a:buChar char="●"/>
                      </a:pPr>
                      <a:r>
                        <a:rPr lang="en-US" sz="1150" u="none" cap="none" strike="noStrike">
                          <a:solidFill>
                            <a:schemeClr val="lt1"/>
                          </a:solidFill>
                          <a:latin typeface="Calibri"/>
                          <a:ea typeface="Calibri"/>
                          <a:cs typeface="Calibri"/>
                          <a:sym typeface="Calibri"/>
                        </a:rPr>
                        <a:t>weitere Auswertungen über die Kunden ID</a:t>
                      </a:r>
                      <a:endParaRPr sz="1150" u="none" cap="none" strike="noStrike">
                        <a:solidFill>
                          <a:schemeClr val="lt1"/>
                        </a:solidFill>
                        <a:latin typeface="Calibri"/>
                        <a:ea typeface="Calibri"/>
                        <a:cs typeface="Calibri"/>
                        <a:sym typeface="Calibri"/>
                      </a:endParaRPr>
                    </a:p>
                    <a:p>
                      <a:pPr indent="-301625" lvl="0" marL="457200" marR="0" rtl="0" algn="l">
                        <a:lnSpc>
                          <a:spcPct val="100000"/>
                        </a:lnSpc>
                        <a:spcBef>
                          <a:spcPts val="0"/>
                        </a:spcBef>
                        <a:spcAft>
                          <a:spcPts val="0"/>
                        </a:spcAft>
                        <a:buClr>
                          <a:schemeClr val="lt1"/>
                        </a:buClr>
                        <a:buSzPts val="1150"/>
                        <a:buFont typeface="Calibri"/>
                        <a:buChar char="●"/>
                      </a:pPr>
                      <a:r>
                        <a:rPr lang="en-US" sz="1100" u="none" cap="none" strike="noStrike">
                          <a:solidFill>
                            <a:schemeClr val="lt1"/>
                          </a:solidFill>
                        </a:rPr>
                        <a:t>Wir empfehlen, die Rabatt Wirkung regelmäßig zu überprüfen </a:t>
                      </a:r>
                      <a:endParaRPr sz="1100" u="none" cap="none" strike="noStrike">
                        <a:solidFill>
                          <a:schemeClr val="lt1"/>
                        </a:solidFill>
                      </a:endParaRPr>
                    </a:p>
                    <a:p>
                      <a:pPr indent="-298450" lvl="0" marL="457200" marR="0" rtl="0" algn="l">
                        <a:lnSpc>
                          <a:spcPct val="100000"/>
                        </a:lnSpc>
                        <a:spcBef>
                          <a:spcPts val="0"/>
                        </a:spcBef>
                        <a:spcAft>
                          <a:spcPts val="0"/>
                        </a:spcAft>
                        <a:buClr>
                          <a:schemeClr val="lt1"/>
                        </a:buClr>
                        <a:buSzPts val="1100"/>
                        <a:buFont typeface="Arial"/>
                        <a:buChar char="●"/>
                      </a:pPr>
                      <a:r>
                        <a:rPr lang="en-US" sz="1100" u="none" cap="none" strike="noStrike">
                          <a:solidFill>
                            <a:schemeClr val="lt1"/>
                          </a:solidFill>
                        </a:rPr>
                        <a:t>Effekt auf Marge prüfen</a:t>
                      </a:r>
                      <a:endParaRPr sz="1100" u="none" cap="none" strike="noStrike">
                        <a:solidFill>
                          <a:schemeClr val="lt1"/>
                        </a:solidFill>
                      </a:endParaRPr>
                    </a:p>
                  </a:txBody>
                  <a:tcPr marT="45725" marB="45725" marR="91450" marL="91450" anchor="ctr">
                    <a:lnL cap="flat" cmpd="sng" w="9525">
                      <a:solidFill>
                        <a:srgbClr val="3A4680"/>
                      </a:solidFill>
                      <a:prstDash val="solid"/>
                      <a:round/>
                      <a:headEnd len="sm" w="sm" type="none"/>
                      <a:tailEnd len="sm" w="sm" type="none"/>
                    </a:lnL>
                    <a:lnR cap="flat" cmpd="sng" w="9525">
                      <a:solidFill>
                        <a:srgbClr val="3A4680"/>
                      </a:solidFill>
                      <a:prstDash val="solid"/>
                      <a:round/>
                      <a:headEnd len="sm" w="sm" type="none"/>
                      <a:tailEnd len="sm" w="sm" type="none"/>
                    </a:lnR>
                    <a:lnT cap="flat" cmpd="sng" w="9525">
                      <a:solidFill>
                        <a:srgbClr val="3A4680"/>
                      </a:solidFill>
                      <a:prstDash val="solid"/>
                      <a:round/>
                      <a:headEnd len="sm" w="sm" type="none"/>
                      <a:tailEnd len="sm" w="sm" type="none"/>
                    </a:lnT>
                    <a:lnB cap="flat" cmpd="sng" w="9525">
                      <a:solidFill>
                        <a:srgbClr val="3A4680"/>
                      </a:solidFill>
                      <a:prstDash val="solid"/>
                      <a:round/>
                      <a:headEnd len="sm" w="sm" type="none"/>
                      <a:tailEnd len="sm" w="sm" type="none"/>
                    </a:lnB>
                    <a:solidFill>
                      <a:srgbClr val="273472"/>
                    </a:solidFill>
                  </a:tcPr>
                </a:tc>
              </a:tr>
            </a:tbl>
          </a:graphicData>
        </a:graphic>
      </p:graphicFrame>
      <p:sp>
        <p:nvSpPr>
          <p:cNvPr id="112" name="Google Shape;112;g3f4fd8f115b_0_0"/>
          <p:cNvSpPr/>
          <p:nvPr/>
        </p:nvSpPr>
        <p:spPr>
          <a:xfrm>
            <a:off x="11277295" y="6446520"/>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C9BD6"/>
              </a:buClr>
              <a:buSzPts val="1000"/>
              <a:buFont typeface="Calibri"/>
              <a:buNone/>
            </a:pPr>
            <a:r>
              <a:rPr b="0" i="0" lang="en-US" sz="1000" u="none" cap="none" strike="noStrike">
                <a:solidFill>
                  <a:srgbClr val="8C9BD6"/>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2026-07-13T05:40:15Z</dcterms:created>
  <dc:creator>PptxGenJS</dc:creator>
</cp:coreProperties>
</file>